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8" r:id="rId4"/>
    <p:sldId id="259" r:id="rId5"/>
    <p:sldId id="269" r:id="rId6"/>
    <p:sldId id="260" r:id="rId7"/>
    <p:sldId id="267" r:id="rId8"/>
    <p:sldId id="261" r:id="rId9"/>
    <p:sldId id="262" r:id="rId10"/>
    <p:sldId id="263" r:id="rId11"/>
    <p:sldId id="264" r:id="rId12"/>
    <p:sldId id="270" r:id="rId13"/>
    <p:sldId id="271" r:id="rId14"/>
    <p:sldId id="272" r:id="rId15"/>
    <p:sldId id="273" r:id="rId16"/>
    <p:sldId id="274" r:id="rId17"/>
    <p:sldId id="276" r:id="rId18"/>
    <p:sldId id="265" r:id="rId19"/>
    <p:sldId id="277" r:id="rId20"/>
    <p:sldId id="278" r:id="rId21"/>
    <p:sldId id="279" r:id="rId22"/>
  </p:sldIdLst>
  <p:sldSz cx="9144000" cy="5143500" type="screen16x9"/>
  <p:notesSz cx="5143500" cy="9144000"/>
  <p:embeddedFontLst>
    <p:embeddedFont>
      <p:font typeface="Instrument Sans Medium" panose="020B0604020202020204" charset="0"/>
      <p:regular r:id="rId24"/>
    </p:embeddedFont>
    <p:embeddedFont>
      <p:font typeface="Inter" panose="020B0604020202020204" charset="0"/>
      <p:regular r:id="rId25"/>
    </p:embeddedFont>
    <p:embeddedFont>
      <p:font typeface="Inter Bold" panose="020B0604020202020204" charset="0"/>
      <p:regular r:id="rId26"/>
      <p:bold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CDD6"/>
    <a:srgbClr val="242429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21"/>
    <p:restoredTop sz="94595"/>
  </p:normalViewPr>
  <p:slideViewPr>
    <p:cSldViewPr snapToGrid="0" snapToObjects="1">
      <p:cViewPr>
        <p:scale>
          <a:sx n="92" d="100"/>
          <a:sy n="92" d="100"/>
        </p:scale>
        <p:origin x="97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47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943E3-A841-ACF4-C9C9-D2A7FB04E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67E63-6BD4-957F-CE02-9E0F5D874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823AB-A78E-76B5-C138-3A93CC335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AE06C-1D0B-61D6-6240-18E4C40D5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39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F4B4-2040-C962-242D-4853C801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79852-8230-1A38-DED8-5E6E175B3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3A538-0D71-8DC7-C65D-3526E1FD6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7AEC1-83E9-B940-5418-C29188ADEA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54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60BCD-25EB-0F8C-E974-A91932D4B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9D7D2-F301-C844-F840-978BC71A3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6C099-4829-3FDF-BEEE-4E5379DF0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1C7C6-9BE5-26C1-3FEB-621123426F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68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jpe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jpeg"/><Relationship Id="rId7" Type="http://schemas.openxmlformats.org/officeDocument/2006/relationships/image" Target="../media/image31.sv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972" y="91252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AI-Based Automatic FAQ Generation from Technical Documents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63973" y="239082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Intelligent NLP-Based System for Automatically Generating Frequently Asked Questions from Technical Documents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7877" y="3975125"/>
            <a:ext cx="44391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37877" y="4281636"/>
            <a:ext cx="44391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667B862-E4AE-0BCF-172E-CB08EBC7E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32891"/>
            <a:ext cx="111390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D096F8-2930-E861-52B5-3903F604340A}"/>
              </a:ext>
            </a:extLst>
          </p:cNvPr>
          <p:cNvSpPr txBox="1"/>
          <p:nvPr/>
        </p:nvSpPr>
        <p:spPr>
          <a:xfrm>
            <a:off x="155548" y="3250905"/>
            <a:ext cx="3706301" cy="206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solidFill>
                  <a:srgbClr val="000000"/>
                </a:solidFill>
              </a:rPr>
              <a:t>Group 3 :-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b="1" dirty="0">
                <a:solidFill>
                  <a:srgbClr val="000000"/>
                </a:solidFill>
              </a:rPr>
              <a:t>Motukuri Vaishnavi - 2420030665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b="1" dirty="0">
                <a:solidFill>
                  <a:srgbClr val="000000"/>
                </a:solidFill>
              </a:rPr>
              <a:t>V. Varshita 2420030230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b="1" dirty="0">
                <a:solidFill>
                  <a:srgbClr val="000000"/>
                </a:solidFill>
              </a:rPr>
              <a:t>Bhashetty Shaanvi 2420039806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0BEBB6-DF5A-DDBC-241F-2D0BB3D98FB4}"/>
              </a:ext>
            </a:extLst>
          </p:cNvPr>
          <p:cNvSpPr txBox="1"/>
          <p:nvPr/>
        </p:nvSpPr>
        <p:spPr>
          <a:xfrm>
            <a:off x="9195275" y="-1025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 0"/>
          <p:cNvSpPr/>
          <p:nvPr/>
        </p:nvSpPr>
        <p:spPr>
          <a:xfrm>
            <a:off x="496119" y="53664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Objectives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340332" y="1752154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endParaRPr lang="en-US" sz="11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D246CA96-544D-4971-E025-A6A6DC8D8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439FB6-C380-8F21-A56E-09AD83602D75}"/>
              </a:ext>
            </a:extLst>
          </p:cNvPr>
          <p:cNvSpPr txBox="1"/>
          <p:nvPr/>
        </p:nvSpPr>
        <p:spPr>
          <a:xfrm>
            <a:off x="340331" y="1134529"/>
            <a:ext cx="55755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-To develop an automatic FAQ generation system using the T5 Transformer.</a:t>
            </a:r>
          </a:p>
          <a:p>
            <a:endParaRPr lang="en-US" sz="16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- To process documents in PDF, DOCX, and TXT formats. </a:t>
            </a:r>
          </a:p>
          <a:p>
            <a:endParaRPr lang="en-US" sz="16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–To extract key context and meaning to improve information accessibility. </a:t>
            </a:r>
          </a:p>
          <a:p>
            <a:endParaRPr lang="en-US" sz="16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 To evaluate system performance using Accuracy.</a:t>
            </a:r>
          </a:p>
          <a:p>
            <a:endParaRPr lang="en-US" sz="16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- To build a user-friendly web interface for document upload and FAQ display. </a:t>
            </a:r>
            <a:endParaRPr lang="en-US" sz="16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endParaRPr lang="en-US" sz="16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 To reduce manual time and effort in reading documents and creating FAQs.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A8658-AACC-C1CA-4305-6F1A033ED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6861180-83CC-F60C-0852-15AB030722E8}"/>
              </a:ext>
            </a:extLst>
          </p:cNvPr>
          <p:cNvSpPr/>
          <p:nvPr/>
        </p:nvSpPr>
        <p:spPr>
          <a:xfrm>
            <a:off x="-1" y="0"/>
            <a:ext cx="916478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1968EB3-6F44-8853-22A5-F218F1516A98}"/>
              </a:ext>
            </a:extLst>
          </p:cNvPr>
          <p:cNvSpPr/>
          <p:nvPr/>
        </p:nvSpPr>
        <p:spPr>
          <a:xfrm>
            <a:off x="496119" y="53664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790E2D-4B18-19D5-4938-C88F30B9AF36}"/>
              </a:ext>
            </a:extLst>
          </p:cNvPr>
          <p:cNvSpPr/>
          <p:nvPr/>
        </p:nvSpPr>
        <p:spPr>
          <a:xfrm>
            <a:off x="340332" y="1752154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endParaRPr lang="en-US" sz="11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5AE36B6A-8E12-06CF-C53F-A6006605F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1FD02C-9B0D-47BE-E482-39F92DEF7B86}"/>
              </a:ext>
            </a:extLst>
          </p:cNvPr>
          <p:cNvSpPr txBox="1"/>
          <p:nvPr/>
        </p:nvSpPr>
        <p:spPr>
          <a:xfrm>
            <a:off x="340331" y="1134529"/>
            <a:ext cx="55755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Technical documents are lengthy and dense, making it hard to find specific information 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Users spend excessive time searching for answers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FAQs are often prepared manually, making the process time-consuming and resource-intensive.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Existing approaches have limited capability to automatically generate contextual FAQs from technical documents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5120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96119" y="555883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Research Gap Identification</a:t>
            </a:r>
            <a:endParaRPr lang="en-US" sz="1600" b="1" dirty="0"/>
          </a:p>
        </p:txBody>
      </p:sp>
      <p:sp>
        <p:nvSpPr>
          <p:cNvPr id="4" name="Text 1"/>
          <p:cNvSpPr/>
          <p:nvPr/>
        </p:nvSpPr>
        <p:spPr>
          <a:xfrm>
            <a:off x="4767511" y="127779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767510" y="1809659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1000"/>
              </a:lnSpc>
            </a:pP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767511" y="3063924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1000"/>
              </a:lnSpc>
            </a:pP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90C565B-65D5-67C8-C435-4F15C1AFD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243394-ED10-12A9-73CD-1865EA413F07}"/>
              </a:ext>
            </a:extLst>
          </p:cNvPr>
          <p:cNvSpPr txBox="1"/>
          <p:nvPr/>
        </p:nvSpPr>
        <p:spPr>
          <a:xfrm>
            <a:off x="389755" y="925066"/>
            <a:ext cx="7770571" cy="3393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4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Existing System </a:t>
            </a:r>
          </a:p>
          <a:p>
            <a:pPr algn="l"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– Keyword-Based Search: Information is retrieved mainly by matching the keywords entered by the user with the words available in the document. </a:t>
            </a:r>
          </a:p>
          <a:p>
            <a:pPr marL="285750" indent="-285750" algn="l">
              <a:spcBef>
                <a:spcPts val="300"/>
              </a:spcBef>
              <a:spcAft>
                <a:spcPts val="375"/>
              </a:spcAft>
              <a:buFontTx/>
              <a:buChar char="-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Limited Context Understanding: The system focuses on individual words or phrases and has difficulty understanding the overall meaning and context of the document. </a:t>
            </a:r>
          </a:p>
          <a:p>
            <a:pPr marL="285750" indent="-285750" algn="l">
              <a:spcBef>
                <a:spcPts val="300"/>
              </a:spcBef>
              <a:spcAft>
                <a:spcPts val="375"/>
              </a:spcAft>
              <a:buFontTx/>
              <a:buChar char="-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Manual FAQ Creation: Users have to read the document, identify important information, and manually create suitable questions and answers. </a:t>
            </a:r>
          </a:p>
          <a:p>
            <a:pPr marL="285750" indent="-285750" algn="l">
              <a:spcBef>
                <a:spcPts val="300"/>
              </a:spcBef>
              <a:spcAft>
                <a:spcPts val="375"/>
              </a:spcAft>
              <a:buFontTx/>
              <a:buChar char="-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Time-Consuming Process: Preparing FAQs from large documents requires more human involvement and takes considerable time and effort.</a:t>
            </a:r>
          </a:p>
          <a:p>
            <a:pPr algn="l">
              <a:spcBef>
                <a:spcPts val="300"/>
              </a:spcBef>
              <a:spcAft>
                <a:spcPts val="375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-    Static Information Retrieval: The system provides predefined or search-based results instead of dynamically generating relevant questions and answers.</a:t>
            </a:r>
          </a:p>
          <a:p>
            <a:pPr>
              <a:buNone/>
            </a:pPr>
            <a:br>
              <a:rPr lang="en-US" sz="1400" dirty="0"/>
            </a:b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AB5C1-03C5-CAFE-B9FD-A9D15DA34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75E215-D31A-CBB1-7C71-F68C3F4E383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0000"/>
                </a:solidFill>
                <a:latin typeface="Roboto" panose="02000000000000000000" pitchFamily="2" charset="0"/>
              </a:rPr>
              <a:t>Proposed AI System </a:t>
            </a:r>
          </a:p>
          <a:p>
            <a:endParaRPr lang="en-US" sz="1600" b="1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- Semantic NLP Understanding: The proposed system uses NLP techniques to understand the context and meaning of the document instead of depending only on keyword matching.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 - Automatic FAQ Generation: The system automatically identifies important content and generates relevant questions and answers from the uploaded document. </a:t>
            </a:r>
          </a:p>
          <a:p>
            <a:endParaRPr lang="en-US" sz="14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- T5 Transformer Model: The T5 Transformer is used to process the extracted content and generate meaningful and context-aware question–answer pairs. </a:t>
            </a:r>
          </a:p>
          <a:p>
            <a:endParaRPr lang="en-US" sz="14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- Dynamic FAQ Generation: FAQs are generated dynamically according to the content of each document, providing more relevant information to the user. </a:t>
            </a:r>
          </a:p>
          <a:p>
            <a:endParaRPr lang="en-US" sz="14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- Reduced Human Effort: The system minimizes manual reading and FAQ preparation, allowing users to obtain useful FAQs quickly after uploading their documents.</a:t>
            </a:r>
            <a:endParaRPr lang="en-US" sz="1400" dirty="0"/>
          </a:p>
          <a:p>
            <a:pPr algn="ctr"/>
            <a:endParaRPr sz="14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853F488-E1B1-8F7A-723B-8F38D8CB1CA9}"/>
              </a:ext>
            </a:extLst>
          </p:cNvPr>
          <p:cNvSpPr/>
          <p:nvPr/>
        </p:nvSpPr>
        <p:spPr>
          <a:xfrm>
            <a:off x="496119" y="555883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C40519B-2F0C-B4CB-3B19-4015C737134D}"/>
              </a:ext>
            </a:extLst>
          </p:cNvPr>
          <p:cNvSpPr/>
          <p:nvPr/>
        </p:nvSpPr>
        <p:spPr>
          <a:xfrm>
            <a:off x="4767511" y="127779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4BA234-A0C8-F444-DBEC-86D5624257F3}"/>
              </a:ext>
            </a:extLst>
          </p:cNvPr>
          <p:cNvSpPr/>
          <p:nvPr/>
        </p:nvSpPr>
        <p:spPr>
          <a:xfrm>
            <a:off x="4767510" y="1809659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1000"/>
              </a:lnSpc>
            </a:pP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5731C97-F41D-F665-D504-0F036798D7C6}"/>
              </a:ext>
            </a:extLst>
          </p:cNvPr>
          <p:cNvSpPr/>
          <p:nvPr/>
        </p:nvSpPr>
        <p:spPr>
          <a:xfrm>
            <a:off x="4767511" y="3063924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1000"/>
              </a:lnSpc>
            </a:pP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9A5E099-407B-56D9-ABB9-917D0752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64C9A7-16B7-18E6-D777-7627AE4749FA}"/>
              </a:ext>
            </a:extLst>
          </p:cNvPr>
          <p:cNvSpPr txBox="1"/>
          <p:nvPr/>
        </p:nvSpPr>
        <p:spPr>
          <a:xfrm>
            <a:off x="2286000" y="-381173"/>
            <a:ext cx="63618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2754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26673" y="594006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Proposed Solution &amp; System Workflow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228360" y="4132079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7000"/>
              </a:lnSpc>
            </a:pPr>
            <a:r>
              <a:rPr lang="en-US" sz="1600" dirty="0">
                <a:solidFill>
                  <a:srgbClr val="000000"/>
                </a:solidFill>
              </a:rPr>
              <a:t>The system extracts and preprocesses document text, divides it into manageable chunks, generates question-answer pairs using the T5 Transformer model, and stores them in a searchable FAQ database.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2E8730-B99A-4655-DC8F-5C09E9E9C16F}"/>
              </a:ext>
            </a:extLst>
          </p:cNvPr>
          <p:cNvSpPr/>
          <p:nvPr/>
        </p:nvSpPr>
        <p:spPr>
          <a:xfrm>
            <a:off x="89023" y="1350410"/>
            <a:ext cx="1273826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Document Upload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6028A75-11E2-6E8E-BDBF-4A78B3BB9F75}"/>
              </a:ext>
            </a:extLst>
          </p:cNvPr>
          <p:cNvSpPr/>
          <p:nvPr/>
        </p:nvSpPr>
        <p:spPr>
          <a:xfrm>
            <a:off x="6354524" y="1350410"/>
            <a:ext cx="1426627" cy="8602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Searchable FAQ Database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8C5081-DD8E-3355-DB44-1F9BAEFB3580}"/>
              </a:ext>
            </a:extLst>
          </p:cNvPr>
          <p:cNvSpPr/>
          <p:nvPr/>
        </p:nvSpPr>
        <p:spPr>
          <a:xfrm>
            <a:off x="3117891" y="2430346"/>
            <a:ext cx="1591167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Text Chunking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DC220F4-66EF-7391-D5CC-6B46A6E84FFB}"/>
              </a:ext>
            </a:extLst>
          </p:cNvPr>
          <p:cNvSpPr/>
          <p:nvPr/>
        </p:nvSpPr>
        <p:spPr>
          <a:xfrm>
            <a:off x="4235530" y="1350693"/>
            <a:ext cx="1591167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T5 Transformer Model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A06BC93-989F-A11F-7840-8007C05D81ED}"/>
              </a:ext>
            </a:extLst>
          </p:cNvPr>
          <p:cNvSpPr/>
          <p:nvPr/>
        </p:nvSpPr>
        <p:spPr>
          <a:xfrm>
            <a:off x="1084117" y="2430346"/>
            <a:ext cx="1370984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Text Extraction &amp; Cleaning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8109617-7990-119D-A6BE-E632F6A73D4B}"/>
              </a:ext>
            </a:extLst>
          </p:cNvPr>
          <p:cNvSpPr/>
          <p:nvPr/>
        </p:nvSpPr>
        <p:spPr>
          <a:xfrm>
            <a:off x="5339914" y="2412482"/>
            <a:ext cx="1426627" cy="8968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FAQ Generation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02C0B41-2362-8407-B115-AF2FD4F33F73}"/>
              </a:ext>
            </a:extLst>
          </p:cNvPr>
          <p:cNvSpPr/>
          <p:nvPr/>
        </p:nvSpPr>
        <p:spPr>
          <a:xfrm>
            <a:off x="2116537" y="1350693"/>
            <a:ext cx="1591167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Sentence Segmentation 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3F876BD-BDF8-EE50-D6FC-77B49637EEFF}"/>
              </a:ext>
            </a:extLst>
          </p:cNvPr>
          <p:cNvSpPr/>
          <p:nvPr/>
        </p:nvSpPr>
        <p:spPr>
          <a:xfrm>
            <a:off x="7593871" y="2430346"/>
            <a:ext cx="1426627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rgbClr val="000000"/>
                </a:solidFill>
              </a:rPr>
              <a:t>Web Application</a:t>
            </a:r>
          </a:p>
          <a:p>
            <a:pPr algn="ctr"/>
            <a:endParaRPr lang="en-US" dirty="0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57674771-EF24-A2ED-4DAE-C4883DA67749}"/>
              </a:ext>
            </a:extLst>
          </p:cNvPr>
          <p:cNvSpPr/>
          <p:nvPr/>
        </p:nvSpPr>
        <p:spPr>
          <a:xfrm>
            <a:off x="1084117" y="2210643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3E8F5BDE-BD8A-7DCD-831A-BD63BA15ECC8}"/>
              </a:ext>
            </a:extLst>
          </p:cNvPr>
          <p:cNvSpPr/>
          <p:nvPr/>
        </p:nvSpPr>
        <p:spPr>
          <a:xfrm>
            <a:off x="3117891" y="2210642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C175B98A-C0BB-E01E-BA4A-BA084DE32911}"/>
              </a:ext>
            </a:extLst>
          </p:cNvPr>
          <p:cNvSpPr/>
          <p:nvPr/>
        </p:nvSpPr>
        <p:spPr>
          <a:xfrm>
            <a:off x="5335606" y="2182489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8A0E63F8-0801-C5F5-9BEC-4D512C80166C}"/>
              </a:ext>
            </a:extLst>
          </p:cNvPr>
          <p:cNvSpPr/>
          <p:nvPr/>
        </p:nvSpPr>
        <p:spPr>
          <a:xfrm>
            <a:off x="7454599" y="2184626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96502573-8716-C43C-B175-1207E75B9B65}"/>
              </a:ext>
            </a:extLst>
          </p:cNvPr>
          <p:cNvSpPr/>
          <p:nvPr/>
        </p:nvSpPr>
        <p:spPr>
          <a:xfrm rot="10800000">
            <a:off x="2175764" y="2161682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2565AECD-85E4-3D7C-0090-0D3C1C0A8C6C}"/>
              </a:ext>
            </a:extLst>
          </p:cNvPr>
          <p:cNvSpPr/>
          <p:nvPr/>
        </p:nvSpPr>
        <p:spPr>
          <a:xfrm rot="10800000">
            <a:off x="4428768" y="2161683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86ACE06D-B95B-B25C-8016-8438FC50C700}"/>
              </a:ext>
            </a:extLst>
          </p:cNvPr>
          <p:cNvSpPr/>
          <p:nvPr/>
        </p:nvSpPr>
        <p:spPr>
          <a:xfrm rot="10800000">
            <a:off x="6475104" y="2139941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0B19EC-B794-F992-D86E-6A31F3C9F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C5BFE-F92B-413F-EDB0-A66FBF5BA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88F2D3-D8BF-7150-9E29-98FA50C43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432447"/>
              </p:ext>
            </p:extLst>
          </p:nvPr>
        </p:nvGraphicFramePr>
        <p:xfrm>
          <a:off x="269663" y="999046"/>
          <a:ext cx="7966710" cy="2358911"/>
        </p:xfrm>
        <a:graphic>
          <a:graphicData uri="http://schemas.openxmlformats.org/drawingml/2006/table">
            <a:tbl>
              <a:tblPr/>
              <a:tblGrid>
                <a:gridCol w="3983355">
                  <a:extLst>
                    <a:ext uri="{9D8B030D-6E8A-4147-A177-3AD203B41FA5}">
                      <a16:colId xmlns:a16="http://schemas.microsoft.com/office/drawing/2014/main" val="1475210364"/>
                    </a:ext>
                  </a:extLst>
                </a:gridCol>
                <a:gridCol w="3983355">
                  <a:extLst>
                    <a:ext uri="{9D8B030D-6E8A-4147-A177-3AD203B41FA5}">
                      <a16:colId xmlns:a16="http://schemas.microsoft.com/office/drawing/2014/main" val="3744116860"/>
                    </a:ext>
                  </a:extLst>
                </a:gridCol>
              </a:tblGrid>
              <a:tr h="294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Dataset</a:t>
                      </a:r>
                      <a:endParaRPr 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</a:rPr>
                        <a:t>Purpose</a:t>
                      </a:r>
                      <a:endParaRPr lang="en-US" sz="140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641670"/>
                  </a:ext>
                </a:extLst>
              </a:tr>
              <a:tr h="49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Python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Used to generate FAQs from Python programming documentation.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197275"/>
                  </a:ext>
                </a:extLst>
              </a:tr>
              <a:tr h="49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Java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Used to generate FAQs from Java documentation.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813378"/>
                  </a:ext>
                </a:extLst>
              </a:tr>
              <a:tr h="49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TensorFlow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Used to generate FAQs from Machine Learning documentation.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704205"/>
                  </a:ext>
                </a:extLst>
              </a:tr>
              <a:tr h="49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User-uploaded Technical Documents (PDF/DOCX/TXT)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Input documents uploaded by users for automatic FAQ generation.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6099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116A81-8E2E-4DBF-322B-4D77C406715F}"/>
              </a:ext>
            </a:extLst>
          </p:cNvPr>
          <p:cNvSpPr txBox="1"/>
          <p:nvPr/>
        </p:nvSpPr>
        <p:spPr>
          <a:xfrm>
            <a:off x="215477" y="515465"/>
            <a:ext cx="4578772" cy="36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Datasets</a:t>
            </a:r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A252AD5-5E7B-7C23-E994-F527E6BE2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942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17996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Innovation, Creativity &amp; Novelty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96119" y="1024979"/>
            <a:ext cx="2305124" cy="1963043"/>
          </a:xfrm>
          <a:prstGeom prst="roundRect">
            <a:avLst>
              <a:gd name="adj" fmla="val 965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>
              <a:solidFill>
                <a:srgbClr val="C7CDD6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22325" y="1151186"/>
            <a:ext cx="378768" cy="378768"/>
          </a:xfrm>
          <a:prstGeom prst="ellipse">
            <a:avLst/>
          </a:prstGeom>
          <a:solidFill>
            <a:srgbClr val="FDC4C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504" y="1255291"/>
            <a:ext cx="170408" cy="170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2325" y="1642393"/>
            <a:ext cx="205271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Innovation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622325" y="1907084"/>
            <a:ext cx="2052712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FAQ generation using the </a:t>
            </a:r>
            <a:r>
              <a:rPr lang="en-US" sz="9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T5 Transformer</a:t>
            </a:r>
            <a:r>
              <a:rPr lang="en-US" sz="9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state-of-the-art text-to-text model trained to produce coherent Q&amp;A pairs from raw text.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2913683" y="1024979"/>
            <a:ext cx="2305199" cy="1963043"/>
          </a:xfrm>
          <a:prstGeom prst="roundRect">
            <a:avLst>
              <a:gd name="adj" fmla="val 965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039889" y="1151186"/>
            <a:ext cx="378768" cy="378768"/>
          </a:xfrm>
          <a:prstGeom prst="ellipse">
            <a:avLst/>
          </a:prstGeom>
          <a:solidFill>
            <a:srgbClr val="FDC4C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44069" y="1255291"/>
            <a:ext cx="170408" cy="1704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39889" y="1642393"/>
            <a:ext cx="205278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Creativity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 8"/>
          <p:cNvSpPr/>
          <p:nvPr/>
        </p:nvSpPr>
        <p:spPr>
          <a:xfrm>
            <a:off x="3039889" y="1907084"/>
            <a:ext cx="2052786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transforms lengthy, complex technical documents into </a:t>
            </a:r>
            <a:r>
              <a:rPr lang="en-US" sz="9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concise, readable FAQs</a:t>
            </a:r>
            <a:r>
              <a:rPr lang="en-US" sz="9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saving hours of manual documentation effort.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4" name="Shape 9"/>
          <p:cNvSpPr/>
          <p:nvPr/>
        </p:nvSpPr>
        <p:spPr>
          <a:xfrm>
            <a:off x="496119" y="3100462"/>
            <a:ext cx="4722763" cy="1581150"/>
          </a:xfrm>
          <a:prstGeom prst="roundRect">
            <a:avLst>
              <a:gd name="adj" fmla="val 1198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622325" y="3226668"/>
            <a:ext cx="378768" cy="378768"/>
          </a:xfrm>
          <a:prstGeom prst="ellipse">
            <a:avLst/>
          </a:prstGeom>
          <a:solidFill>
            <a:srgbClr val="FDC4C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6504" y="3330773"/>
            <a:ext cx="170408" cy="1704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2325" y="3717875"/>
            <a:ext cx="447035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Novelty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 12"/>
          <p:cNvSpPr/>
          <p:nvPr/>
        </p:nvSpPr>
        <p:spPr>
          <a:xfrm>
            <a:off x="622325" y="3982566"/>
            <a:ext cx="4470350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6000"/>
              </a:lnSpc>
            </a:pPr>
            <a:r>
              <a:rPr lang="en-US" sz="1000" dirty="0">
                <a:solidFill>
                  <a:schemeClr val="bg1"/>
                </a:solidFill>
              </a:rPr>
              <a:t>Unlike search tools, the system generates new question-answer pairs rather than extracting existing text. It is a generative approach rather than a retriever-based approach. It also supports multiple technical document formats (PDF, DOCX, and TXT).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D48BBCF7-1A07-0D05-6ED3-92E47790B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96118" y="517662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Feasibility Analysis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885230"/>
            <a:ext cx="2694980" cy="99677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975" y="1308869"/>
            <a:ext cx="149498" cy="1494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9140" y="999158"/>
            <a:ext cx="209803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Technical Feasibility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979140" y="1224855"/>
            <a:ext cx="2098030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4000"/>
              </a:lnSpc>
            </a:pPr>
            <a:r>
              <a:rPr lang="en-US" sz="800" dirty="0">
                <a:solidFill>
                  <a:schemeClr val="bg1"/>
                </a:solidFill>
              </a:rPr>
              <a:t>Developed using Python, NLP libraries, and the T5 Transformer model. The proposed technologies are open-source, reliable, and well documented.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1952030"/>
            <a:ext cx="2694980" cy="860971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4975" y="2307729"/>
            <a:ext cx="149498" cy="14949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79140" y="2065958"/>
            <a:ext cx="209803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Economic Feasibility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0" name="Text 4"/>
          <p:cNvSpPr/>
          <p:nvPr/>
        </p:nvSpPr>
        <p:spPr>
          <a:xfrm>
            <a:off x="979140" y="2291655"/>
            <a:ext cx="2098030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Entirely </a:t>
            </a:r>
            <a:r>
              <a:rPr lang="en-US" sz="7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open-source stack</a:t>
            </a: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zero licensing costs. Deployable on low-cost cloud or local servers.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883024"/>
            <a:ext cx="2694980" cy="860971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4975" y="3238723"/>
            <a:ext cx="149498" cy="14949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79140" y="2996952"/>
            <a:ext cx="209803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Operational Feasibility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4" name="Text 6"/>
          <p:cNvSpPr/>
          <p:nvPr/>
        </p:nvSpPr>
        <p:spPr>
          <a:xfrm>
            <a:off x="979140" y="3222650"/>
            <a:ext cx="2098030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</a:t>
            </a:r>
            <a:r>
              <a:rPr lang="en-US" sz="7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 interface</a:t>
            </a: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upload a document, receive FAQs. No technical expertise required from end users.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814018"/>
            <a:ext cx="2694980" cy="860971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4975" y="4169718"/>
            <a:ext cx="149498" cy="149498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979140" y="3927946"/>
            <a:ext cx="209803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Schedule Feasibility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8" name="Text 8"/>
          <p:cNvSpPr/>
          <p:nvPr/>
        </p:nvSpPr>
        <p:spPr>
          <a:xfrm>
            <a:off x="979140" y="4153644"/>
            <a:ext cx="2098030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design allows parallel development. </a:t>
            </a:r>
            <a:r>
              <a:rPr lang="en-US" sz="7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Completable within one academic semester</a:t>
            </a: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 4–5-person team.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39046" y="1313780"/>
            <a:ext cx="5213524" cy="2932584"/>
          </a:xfrm>
          <a:prstGeom prst="rect">
            <a:avLst/>
          </a:prstGeom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5E9155ED-1439-5E8A-94B1-3BBE9C92D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03262" y="523236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Plan &amp; Timeline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64856" y="899294"/>
            <a:ext cx="14288" cy="3397225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166071" y="1006748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457402" y="899294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495614" y="918381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934269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1–2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6119" y="1137419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</a:t>
            </a: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Literature survey, requirement analysis, tool selection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72310" y="1560761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457402" y="1453307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495614" y="1472394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1439" y="1488281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3–4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81439" y="1691432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Design</a:t>
            </a: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Architecture, UI/UX wireframes, database schema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66071" y="2059037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457402" y="1951583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495614" y="1970670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119" y="1986558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5–6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6119" y="2189708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 Processing</a:t>
            </a: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Text extraction, cleaning, chunking pipeline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72310" y="2557314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457402" y="2449860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495614" y="2468947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81439" y="2484834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7–8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81439" y="2687985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800" dirty="0">
                <a:solidFill>
                  <a:srgbClr val="000000"/>
                </a:solidFill>
              </a:rPr>
              <a:t>T5 Transformer Integration</a:t>
            </a:r>
          </a:p>
        </p:txBody>
      </p:sp>
      <p:sp>
        <p:nvSpPr>
          <p:cNvPr id="24" name="Shape 22"/>
          <p:cNvSpPr/>
          <p:nvPr/>
        </p:nvSpPr>
        <p:spPr>
          <a:xfrm>
            <a:off x="4166071" y="3055590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457402" y="2948136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495614" y="2967224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119" y="2983111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9–10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6119" y="3186261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15000"/>
              </a:lnSpc>
            </a:pPr>
            <a:r>
              <a:rPr lang="en-US" sz="800" dirty="0">
                <a:solidFill>
                  <a:srgbClr val="000000"/>
                </a:solidFill>
              </a:rPr>
              <a:t>Web Application Development</a:t>
            </a:r>
          </a:p>
        </p:txBody>
      </p:sp>
      <p:sp>
        <p:nvSpPr>
          <p:cNvPr id="29" name="Shape 27"/>
          <p:cNvSpPr/>
          <p:nvPr/>
        </p:nvSpPr>
        <p:spPr>
          <a:xfrm>
            <a:off x="4672310" y="3553867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457402" y="3446413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495614" y="3465500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1439" y="3481388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11–12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81439" y="3684538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&amp; Documentation</a:t>
            </a: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Unit tests, user testing, final report</a:t>
            </a:r>
            <a:endParaRPr lang="en-US" sz="800" dirty="0"/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AAA0BB63-69E7-CC57-B494-F852E365B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1051533" y="374513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Expected Output &amp; Applications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456507"/>
            <a:ext cx="269498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Sample User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7883" y="1782201"/>
            <a:ext cx="2694980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User uploads a PDF or text document. </a:t>
            </a:r>
          </a:p>
          <a:p>
            <a:r>
              <a:rPr lang="en-US" sz="1200" dirty="0">
                <a:solidFill>
                  <a:srgbClr val="000000"/>
                </a:solidFill>
              </a:rPr>
              <a:t>The system processes the content automatically. </a:t>
            </a:r>
          </a:p>
          <a:p>
            <a:r>
              <a:rPr lang="en-US" sz="1200" dirty="0">
                <a:solidFill>
                  <a:srgbClr val="000000"/>
                </a:solidFill>
              </a:rPr>
              <a:t>Generated FAQs are displayed in a searchable and exportable format. </a:t>
            </a:r>
          </a:p>
          <a:p>
            <a:r>
              <a:rPr lang="en-US" sz="1200" dirty="0">
                <a:solidFill>
                  <a:srgbClr val="000000"/>
                </a:solidFill>
              </a:rPr>
              <a:t>FAQs can also be downloaded for future use.</a:t>
            </a:r>
          </a:p>
          <a:p>
            <a:pPr>
              <a:lnSpc>
                <a:spcPct val="114000"/>
              </a:lnSpc>
            </a:pP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046" y="885230"/>
            <a:ext cx="5213524" cy="29325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6119" y="3975422"/>
            <a:ext cx="1985367" cy="354955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95759" y="4075063"/>
            <a:ext cx="178608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Software Docs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2551509" y="3975422"/>
            <a:ext cx="1985442" cy="354955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651150" y="4075063"/>
            <a:ext cx="178616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Educational Materials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06975" y="3975422"/>
            <a:ext cx="1985442" cy="354955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706615" y="4075063"/>
            <a:ext cx="178616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 Manuals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6662440" y="3975422"/>
            <a:ext cx="1985442" cy="354955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762080" y="4075063"/>
            <a:ext cx="178616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Knowledge Management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551584" y="4470670"/>
            <a:ext cx="1985367" cy="353244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r>
              <a:rPr lang="en-US" sz="1200" dirty="0">
                <a:solidFill>
                  <a:schemeClr val="bg1"/>
                </a:solidFill>
                <a:latin typeface="Instrument Sans Medium" panose="020B0604020202020204" charset="0"/>
              </a:rPr>
              <a:t>API Documentation</a:t>
            </a: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34FBF613-5BDD-6BAF-AB32-389CF3D52D8A}"/>
              </a:ext>
            </a:extLst>
          </p:cNvPr>
          <p:cNvSpPr/>
          <p:nvPr/>
        </p:nvSpPr>
        <p:spPr>
          <a:xfrm>
            <a:off x="496119" y="4470670"/>
            <a:ext cx="1985367" cy="353244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  <a:latin typeface="Instrument Sans Medium" panose="020B0604020202020204" charset="0"/>
              </a:rPr>
              <a:t> Technical support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DFEE8070-3187-464F-9859-A6B7EE8CF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7BACFF-0980-6815-9888-4CCA9B53A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D7A931-7A37-76ED-A4C9-CEBEDEFC1585}"/>
              </a:ext>
            </a:extLst>
          </p:cNvPr>
          <p:cNvSpPr txBox="1"/>
          <p:nvPr/>
        </p:nvSpPr>
        <p:spPr>
          <a:xfrm>
            <a:off x="2244437" y="136532"/>
            <a:ext cx="4139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5EEC9-B9DA-4B13-CFE7-199AAFB894C9}"/>
              </a:ext>
            </a:extLst>
          </p:cNvPr>
          <p:cNvSpPr txBox="1"/>
          <p:nvPr/>
        </p:nvSpPr>
        <p:spPr>
          <a:xfrm>
            <a:off x="274320" y="536642"/>
            <a:ext cx="8311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The proposed system follows a sequential NLP-based methodology for automatically generating FAQs from technical documents.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395ABF-8799-AD85-6326-705044525BBF}"/>
              </a:ext>
            </a:extLst>
          </p:cNvPr>
          <p:cNvSpPr txBox="1"/>
          <p:nvPr/>
        </p:nvSpPr>
        <p:spPr>
          <a:xfrm>
            <a:off x="207818" y="1073284"/>
            <a:ext cx="40566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1. Document Upload</a:t>
            </a:r>
            <a:br>
              <a:rPr lang="en-IN" sz="1500" dirty="0"/>
            </a:br>
            <a:r>
              <a:rPr lang="en-IN" sz="1500" dirty="0"/>
              <a:t>Users upload technical documents in </a:t>
            </a:r>
            <a:r>
              <a:rPr lang="en-IN" sz="1500" b="1" dirty="0"/>
              <a:t>PDF, DOCX, or TXT</a:t>
            </a:r>
            <a:r>
              <a:rPr lang="en-IN" sz="1500" dirty="0"/>
              <a:t> format.</a:t>
            </a:r>
          </a:p>
          <a:p>
            <a:r>
              <a:rPr lang="en-IN" sz="1500" b="1" dirty="0"/>
              <a:t>2. Text Extraction</a:t>
            </a:r>
            <a:br>
              <a:rPr lang="en-IN" sz="1500" dirty="0"/>
            </a:br>
            <a:r>
              <a:rPr lang="en-IN" sz="1500" dirty="0"/>
              <a:t>The system extracts readable text from the uploaded document.</a:t>
            </a:r>
          </a:p>
          <a:p>
            <a:r>
              <a:rPr lang="en-IN" sz="1500" b="1" dirty="0"/>
              <a:t>3. Text Preprocessing</a:t>
            </a:r>
            <a:br>
              <a:rPr lang="en-IN" sz="1500" dirty="0"/>
            </a:br>
            <a:r>
              <a:rPr lang="en-IN" sz="1500" dirty="0"/>
              <a:t>Extracted text is cleaned by removing unnecessary spaces, symbols, and irrelevant content.</a:t>
            </a:r>
          </a:p>
          <a:p>
            <a:r>
              <a:rPr lang="en-IN" sz="1500" b="1" dirty="0"/>
              <a:t>4. Sentence Segmentation</a:t>
            </a:r>
            <a:br>
              <a:rPr lang="en-IN" sz="1500" dirty="0"/>
            </a:br>
            <a:r>
              <a:rPr lang="en-IN" sz="1500" dirty="0"/>
              <a:t>The processed text is divided into meaningful sentences.</a:t>
            </a:r>
          </a:p>
          <a:p>
            <a:r>
              <a:rPr lang="en-IN" sz="1500" b="1" dirty="0"/>
              <a:t>5. Text Chunking</a:t>
            </a:r>
            <a:br>
              <a:rPr lang="en-IN" sz="1500" dirty="0"/>
            </a:br>
            <a:r>
              <a:rPr lang="en-IN" sz="1500" dirty="0"/>
              <a:t>Large documents are divided into smaller manageable text chunks for efficient processing.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9A2869-41A6-8274-3F2E-55A7220A9096}"/>
              </a:ext>
            </a:extLst>
          </p:cNvPr>
          <p:cNvSpPr txBox="1"/>
          <p:nvPr/>
        </p:nvSpPr>
        <p:spPr>
          <a:xfrm>
            <a:off x="4520584" y="1076401"/>
            <a:ext cx="415636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6. T5 Transformer Processing</a:t>
            </a:r>
            <a:br>
              <a:rPr lang="en-IN" sz="1500" dirty="0"/>
            </a:br>
            <a:r>
              <a:rPr lang="en-IN" sz="1500" dirty="0"/>
              <a:t>The T5 Transformer </a:t>
            </a:r>
            <a:r>
              <a:rPr lang="en-IN" sz="1500" dirty="0" err="1"/>
              <a:t>analyzes</a:t>
            </a:r>
            <a:r>
              <a:rPr lang="en-IN" sz="1500" dirty="0"/>
              <a:t> the context and generates relevant question–answer pairs.</a:t>
            </a:r>
          </a:p>
          <a:p>
            <a:r>
              <a:rPr lang="en-IN" sz="1500" b="1" dirty="0"/>
              <a:t>7. FAQ Post-Processing</a:t>
            </a:r>
            <a:br>
              <a:rPr lang="en-IN" sz="1500" dirty="0"/>
            </a:br>
            <a:r>
              <a:rPr lang="en-IN" sz="1500" dirty="0"/>
              <a:t>Generated FAQs are organized, cleaned, and prepared for display.</a:t>
            </a:r>
          </a:p>
          <a:p>
            <a:r>
              <a:rPr lang="en-IN" sz="1500" b="1" dirty="0"/>
              <a:t>8. FAQ Storage &amp; Search</a:t>
            </a:r>
            <a:br>
              <a:rPr lang="en-IN" sz="1500" dirty="0"/>
            </a:br>
            <a:r>
              <a:rPr lang="en-IN" sz="1500" dirty="0"/>
              <a:t>The generated FAQs are stored in a searchable knowledge base.</a:t>
            </a:r>
          </a:p>
          <a:p>
            <a:r>
              <a:rPr lang="en-IN" sz="1500" b="1" dirty="0"/>
              <a:t>9. Web Application</a:t>
            </a:r>
            <a:br>
              <a:rPr lang="en-IN" sz="1500" dirty="0"/>
            </a:br>
            <a:r>
              <a:rPr lang="en-IN" sz="1500" dirty="0"/>
              <a:t>Users can search, view, copy, provide feedback, and export the generated FAQs.</a:t>
            </a:r>
          </a:p>
          <a:p>
            <a:r>
              <a:rPr lang="en-IN" sz="1500" b="1" dirty="0"/>
              <a:t>Methodology Flow:</a:t>
            </a:r>
            <a:br>
              <a:rPr lang="en-IN" sz="1500" dirty="0"/>
            </a:br>
            <a:r>
              <a:rPr lang="en-IN" sz="1500" b="1" dirty="0"/>
              <a:t>Upload → Extract → Preprocess → Segment → Chunk → T5 Generation → Post-Process → Store → Search &amp; Display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699756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B0097-8584-829B-63DA-B5C3EA615E5F}"/>
              </a:ext>
            </a:extLst>
          </p:cNvPr>
          <p:cNvSpPr txBox="1"/>
          <p:nvPr/>
        </p:nvSpPr>
        <p:spPr>
          <a:xfrm>
            <a:off x="495030" y="2075329"/>
            <a:ext cx="2160621" cy="23039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A892E5-78F4-8123-2E9F-07764BBD60E8}"/>
              </a:ext>
            </a:extLst>
          </p:cNvPr>
          <p:cNvSpPr txBox="1"/>
          <p:nvPr/>
        </p:nvSpPr>
        <p:spPr>
          <a:xfrm>
            <a:off x="117239" y="3825648"/>
            <a:ext cx="2794475" cy="11205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5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Input:</a:t>
            </a:r>
            <a:r>
              <a:rPr lang="en-US" sz="15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PDF / DOCX / TXT</a:t>
            </a:r>
            <a:br>
              <a:rPr lang="en-US" sz="15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15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Processing:</a:t>
            </a:r>
            <a:r>
              <a:rPr lang="en-US" sz="15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NLP + T5 Transformer</a:t>
            </a:r>
            <a:br>
              <a:rPr lang="en-US" sz="15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15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Output:</a:t>
            </a:r>
            <a:r>
              <a:rPr lang="en-US" sz="15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Contextual Question–Answer pairs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697A1B-80C4-BE94-2BCF-262B8E7CC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379" y="76911"/>
            <a:ext cx="6077620" cy="50662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DE0EA6C-52EC-82C0-0D36-8B10879FA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92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963DF9-4919-3DD6-0100-5EB8D1678599}"/>
              </a:ext>
            </a:extLst>
          </p:cNvPr>
          <p:cNvSpPr txBox="1"/>
          <p:nvPr/>
        </p:nvSpPr>
        <p:spPr>
          <a:xfrm>
            <a:off x="2439824" y="145278"/>
            <a:ext cx="4264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Modern Tools &amp; Technologies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EE4D05-AD08-C2BA-C5E1-80C8148EC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8BDEA4-956E-AFA2-A6F6-558C5AB8AACE}"/>
              </a:ext>
            </a:extLst>
          </p:cNvPr>
          <p:cNvSpPr txBox="1"/>
          <p:nvPr/>
        </p:nvSpPr>
        <p:spPr>
          <a:xfrm>
            <a:off x="273465" y="828942"/>
            <a:ext cx="373451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AI / NLP:-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T5 Transformer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Natural Language Processing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Text preprocessing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Sentence segmentation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Text chunking </a:t>
            </a:r>
          </a:p>
          <a:p>
            <a:pPr lvl="0"/>
            <a:endParaRPr lang="en-IN" dirty="0"/>
          </a:p>
          <a:p>
            <a:r>
              <a:rPr lang="en-IN" b="1" dirty="0"/>
              <a:t>Frontend:-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React.js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Vite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HTML5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CSS3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JavaScript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907698-0032-72BC-54B5-5990677066D5}"/>
              </a:ext>
            </a:extLst>
          </p:cNvPr>
          <p:cNvSpPr txBox="1"/>
          <p:nvPr/>
        </p:nvSpPr>
        <p:spPr>
          <a:xfrm>
            <a:off x="4794192" y="726392"/>
            <a:ext cx="35379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Backend:-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Python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REST/API-based communication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Document processing modules </a:t>
            </a:r>
          </a:p>
          <a:p>
            <a:pPr lvl="0"/>
            <a:endParaRPr lang="en-IN" dirty="0"/>
          </a:p>
          <a:p>
            <a:r>
              <a:rPr lang="en-IN" b="1" dirty="0"/>
              <a:t>Data / Storage:-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FAQ knowledge base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Technical document datasets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PDF / DOCX / TXT input </a:t>
            </a:r>
          </a:p>
          <a:p>
            <a:pPr lvl="0"/>
            <a:endParaRPr lang="en-IN" dirty="0"/>
          </a:p>
          <a:p>
            <a:r>
              <a:rPr lang="en-IN" b="1" dirty="0"/>
              <a:t>Development Tools:-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Visual Studio Code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Git / GitHub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Jupyter / Python environment</a:t>
            </a:r>
          </a:p>
        </p:txBody>
      </p:sp>
    </p:spTree>
    <p:extLst>
      <p:ext uri="{BB962C8B-B14F-4D97-AF65-F5344CB8AC3E}">
        <p14:creationId xmlns:p14="http://schemas.microsoft.com/office/powerpoint/2010/main" val="440614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B1FB61-5A26-08E4-BBB5-72C2FE89466D}"/>
              </a:ext>
            </a:extLst>
          </p:cNvPr>
          <p:cNvSpPr txBox="1"/>
          <p:nvPr/>
        </p:nvSpPr>
        <p:spPr>
          <a:xfrm>
            <a:off x="-123891" y="645672"/>
            <a:ext cx="2732976" cy="4293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07BE6-C37D-BB18-D456-93DFCE631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881" y="170916"/>
            <a:ext cx="5950662" cy="47685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0BBF20-C79D-1685-80E0-A05E86C67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478DD5-3506-F0B9-D390-5E6197226456}"/>
              </a:ext>
            </a:extLst>
          </p:cNvPr>
          <p:cNvSpPr txBox="1"/>
          <p:nvPr/>
        </p:nvSpPr>
        <p:spPr>
          <a:xfrm>
            <a:off x="-17057" y="1986337"/>
            <a:ext cx="295684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Implemented Features</a:t>
            </a:r>
            <a:endParaRPr lang="en-IN" sz="16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PDF, DOCX and TXT document upload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Automatic document processing workflow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FAQ generation interface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FAQ search and category filtering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Copy, feedback and export functionality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Analytics and notification support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685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01A287-621D-D377-D577-71B8A0EE6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E94BE2-D357-BAF9-0F16-BD3993805D8C}"/>
              </a:ext>
            </a:extLst>
          </p:cNvPr>
          <p:cNvSpPr txBox="1"/>
          <p:nvPr/>
        </p:nvSpPr>
        <p:spPr>
          <a:xfrm>
            <a:off x="3720477" y="136532"/>
            <a:ext cx="948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dirty="0"/>
              <a:t>Results</a:t>
            </a:r>
            <a:endParaRPr 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87265-0AE6-D066-980F-5CC0E855C261}"/>
              </a:ext>
            </a:extLst>
          </p:cNvPr>
          <p:cNvSpPr txBox="1"/>
          <p:nvPr/>
        </p:nvSpPr>
        <p:spPr>
          <a:xfrm>
            <a:off x="393107" y="1295675"/>
            <a:ext cx="29055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Input:-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Technical document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PDF / DOCX / TXT </a:t>
            </a:r>
          </a:p>
          <a:p>
            <a:r>
              <a:rPr lang="en-IN" b="1" dirty="0"/>
              <a:t>Processing:-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Text extraction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Text preprocessing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Context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FAQ generation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BF3C5-5189-6800-EDB7-BC487717ACE1}"/>
              </a:ext>
            </a:extLst>
          </p:cNvPr>
          <p:cNvSpPr txBox="1"/>
          <p:nvPr/>
        </p:nvSpPr>
        <p:spPr>
          <a:xfrm>
            <a:off x="4318683" y="1295675"/>
            <a:ext cx="26836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Output:-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Generated Questions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Generated Answers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Searchable FAQ Library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Copy / Export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User Feedback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84BFD3-D6C1-E8C5-D65E-F804F1ED22E8}"/>
              </a:ext>
            </a:extLst>
          </p:cNvPr>
          <p:cNvSpPr txBox="1"/>
          <p:nvPr/>
        </p:nvSpPr>
        <p:spPr>
          <a:xfrm>
            <a:off x="320468" y="4221623"/>
            <a:ext cx="8503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Result:</a:t>
            </a:r>
            <a:r>
              <a:rPr lang="en-IN" dirty="0"/>
              <a:t> Technical documents are transformed into easily accessible question–answer information.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430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09DDBF-22AC-31B0-8B0E-315E78A8BECA}"/>
              </a:ext>
            </a:extLst>
          </p:cNvPr>
          <p:cNvSpPr txBox="1"/>
          <p:nvPr/>
        </p:nvSpPr>
        <p:spPr>
          <a:xfrm>
            <a:off x="2251035" y="93755"/>
            <a:ext cx="529779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Performance Evaluation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4AF8F9-FEC8-5B60-65BF-670D6CBAF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AD16B5-E368-BCC6-1FF6-0FA1A4018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88021"/>
              </p:ext>
            </p:extLst>
          </p:nvPr>
        </p:nvGraphicFramePr>
        <p:xfrm>
          <a:off x="324166" y="1274487"/>
          <a:ext cx="8495663" cy="30561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3080">
                  <a:extLst>
                    <a:ext uri="{9D8B030D-6E8A-4147-A177-3AD203B41FA5}">
                      <a16:colId xmlns:a16="http://schemas.microsoft.com/office/drawing/2014/main" val="3365557279"/>
                    </a:ext>
                  </a:extLst>
                </a:gridCol>
                <a:gridCol w="4652583">
                  <a:extLst>
                    <a:ext uri="{9D8B030D-6E8A-4147-A177-3AD203B41FA5}">
                      <a16:colId xmlns:a16="http://schemas.microsoft.com/office/drawing/2014/main" val="2003872184"/>
                    </a:ext>
                  </a:extLst>
                </a:gridCol>
              </a:tblGrid>
              <a:tr h="352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Metric</a:t>
                      </a:r>
                    </a:p>
                  </a:txBody>
                  <a:tcPr marL="80003" marR="80003" marT="40002" marB="400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What We Evaluate</a:t>
                      </a:r>
                    </a:p>
                  </a:txBody>
                  <a:tcPr marL="80003" marR="80003" marT="40002" marB="40002" anchor="ctr"/>
                </a:tc>
                <a:extLst>
                  <a:ext uri="{0D108BD9-81ED-4DB2-BD59-A6C34878D82A}">
                    <a16:rowId xmlns:a16="http://schemas.microsoft.com/office/drawing/2014/main" val="3022260734"/>
                  </a:ext>
                </a:extLst>
              </a:tr>
              <a:tr h="352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Precision</a:t>
                      </a:r>
                    </a:p>
                  </a:txBody>
                  <a:tcPr marL="80003" marR="80003" marT="40002" marB="400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Relevance of generated FAQs</a:t>
                      </a:r>
                    </a:p>
                  </a:txBody>
                  <a:tcPr marL="80003" marR="80003" marT="40002" marB="40002" anchor="ctr"/>
                </a:tc>
                <a:extLst>
                  <a:ext uri="{0D108BD9-81ED-4DB2-BD59-A6C34878D82A}">
                    <a16:rowId xmlns:a16="http://schemas.microsoft.com/office/drawing/2014/main" val="381588227"/>
                  </a:ext>
                </a:extLst>
              </a:tr>
              <a:tr h="352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Recall</a:t>
                      </a:r>
                    </a:p>
                  </a:txBody>
                  <a:tcPr marL="80003" marR="80003" marT="40002" marB="400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Coverage of important information</a:t>
                      </a:r>
                    </a:p>
                  </a:txBody>
                  <a:tcPr marL="80003" marR="80003" marT="40002" marB="40002" anchor="ctr"/>
                </a:tc>
                <a:extLst>
                  <a:ext uri="{0D108BD9-81ED-4DB2-BD59-A6C34878D82A}">
                    <a16:rowId xmlns:a16="http://schemas.microsoft.com/office/drawing/2014/main" val="1910456230"/>
                  </a:ext>
                </a:extLst>
              </a:tr>
              <a:tr h="352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F1-Score</a:t>
                      </a:r>
                    </a:p>
                  </a:txBody>
                  <a:tcPr marL="80003" marR="80003" marT="40002" marB="400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Balance between precision and recall</a:t>
                      </a:r>
                    </a:p>
                  </a:txBody>
                  <a:tcPr marL="80003" marR="80003" marT="40002" marB="40002" anchor="ctr"/>
                </a:tc>
                <a:extLst>
                  <a:ext uri="{0D108BD9-81ED-4DB2-BD59-A6C34878D82A}">
                    <a16:rowId xmlns:a16="http://schemas.microsoft.com/office/drawing/2014/main" val="1553525753"/>
                  </a:ext>
                </a:extLst>
              </a:tr>
              <a:tr h="5920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BLEU</a:t>
                      </a:r>
                    </a:p>
                  </a:txBody>
                  <a:tcPr marL="80003" marR="80003" marT="40002" marB="400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Similarity of generated questions with reference questions</a:t>
                      </a:r>
                    </a:p>
                  </a:txBody>
                  <a:tcPr marL="80003" marR="80003" marT="40002" marB="40002" anchor="ctr"/>
                </a:tc>
                <a:extLst>
                  <a:ext uri="{0D108BD9-81ED-4DB2-BD59-A6C34878D82A}">
                    <a16:rowId xmlns:a16="http://schemas.microsoft.com/office/drawing/2014/main" val="939318619"/>
                  </a:ext>
                </a:extLst>
              </a:tr>
              <a:tr h="352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ROUGE</a:t>
                      </a:r>
                    </a:p>
                  </a:txBody>
                  <a:tcPr marL="80003" marR="80003" marT="40002" marB="400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Text overlap with reference answers</a:t>
                      </a:r>
                    </a:p>
                  </a:txBody>
                  <a:tcPr marL="80003" marR="80003" marT="40002" marB="40002" anchor="ctr"/>
                </a:tc>
                <a:extLst>
                  <a:ext uri="{0D108BD9-81ED-4DB2-BD59-A6C34878D82A}">
                    <a16:rowId xmlns:a16="http://schemas.microsoft.com/office/drawing/2014/main" val="487153306"/>
                  </a:ext>
                </a:extLst>
              </a:tr>
              <a:tr h="352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Response Time</a:t>
                      </a:r>
                    </a:p>
                  </a:txBody>
                  <a:tcPr marL="80003" marR="80003" marT="40002" marB="400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Time required to generate FAQs</a:t>
                      </a:r>
                    </a:p>
                  </a:txBody>
                  <a:tcPr marL="80003" marR="80003" marT="40002" marB="40002" anchor="ctr"/>
                </a:tc>
                <a:extLst>
                  <a:ext uri="{0D108BD9-81ED-4DB2-BD59-A6C34878D82A}">
                    <a16:rowId xmlns:a16="http://schemas.microsoft.com/office/drawing/2014/main" val="4110595774"/>
                  </a:ext>
                </a:extLst>
              </a:tr>
              <a:tr h="352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Human Evaluation</a:t>
                      </a:r>
                    </a:p>
                  </a:txBody>
                  <a:tcPr marL="80003" marR="80003" marT="40002" marB="400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Correctness, relevance and readability</a:t>
                      </a:r>
                    </a:p>
                  </a:txBody>
                  <a:tcPr marL="80003" marR="80003" marT="40002" marB="40002" anchor="ctr"/>
                </a:tc>
                <a:extLst>
                  <a:ext uri="{0D108BD9-81ED-4DB2-BD59-A6C34878D82A}">
                    <a16:rowId xmlns:a16="http://schemas.microsoft.com/office/drawing/2014/main" val="11115244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1D4205-5C9E-4D23-CF5F-7DB185346C04}"/>
              </a:ext>
            </a:extLst>
          </p:cNvPr>
          <p:cNvSpPr txBox="1"/>
          <p:nvPr/>
        </p:nvSpPr>
        <p:spPr>
          <a:xfrm>
            <a:off x="657451" y="4330625"/>
            <a:ext cx="74268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Evaluation Parameters:</a:t>
            </a:r>
            <a:br>
              <a:rPr lang="en-IN" dirty="0"/>
            </a:br>
            <a:r>
              <a:rPr lang="en-IN" dirty="0"/>
              <a:t>Accuracy + Relevance + Readability + Response Time + User Feedback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377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252"/>
            <a:ext cx="3429000" cy="5150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65758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Future Scope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990898"/>
            <a:ext cx="239167" cy="2391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90417" y="1031974"/>
            <a:ext cx="43574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Multilingual Support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290417" y="1279327"/>
            <a:ext cx="435746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FAQ generation to regional languages, and other global languages using multilingual T5 variants.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1833860"/>
            <a:ext cx="239167" cy="23916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90417" y="1874937"/>
            <a:ext cx="43574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Chatbot Integration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290417" y="2122289"/>
            <a:ext cx="435746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 generated FAQs into an interactive chatbot for real-time user queries.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2500461"/>
            <a:ext cx="239167" cy="23916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290417" y="2541538"/>
            <a:ext cx="43574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Voice-Based Search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290417" y="2788890"/>
            <a:ext cx="435746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voice input and audio FAQ responses for accessibility and hands-free use.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25119" y="3343424"/>
            <a:ext cx="239167" cy="23916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90417" y="3384500"/>
            <a:ext cx="43574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 &amp; Mobile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4290417" y="3631853"/>
            <a:ext cx="435746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on cloud infrastructure with a companion mobile app for on-the-go access.</a:t>
            </a:r>
            <a:endParaRPr lang="en-US" sz="900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7749EDD1-AB60-F7AA-5F42-AE5FD014C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93451" y="77838"/>
            <a:ext cx="478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COMPARATIVE ANALYSIS</a:t>
            </a:r>
            <a:endParaRPr lang="en-IN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8" y="447170"/>
            <a:ext cx="3959565" cy="23117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173" y="447170"/>
            <a:ext cx="4280961" cy="24962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07" y="2820641"/>
            <a:ext cx="3666554" cy="23228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987" y="2943392"/>
            <a:ext cx="4171147" cy="220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00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6" y="501446"/>
            <a:ext cx="8607212" cy="421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330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5DD4F-237B-A157-CED4-AA662721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0F8FB2-8E4F-D0BF-3499-58239226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004"/>
            <a:ext cx="9144000" cy="501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663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1350</Words>
  <Application>Microsoft Office PowerPoint</Application>
  <PresentationFormat>On-screen Show (16:9)</PresentationFormat>
  <Paragraphs>220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Instrument Sans Medium</vt:lpstr>
      <vt:lpstr>Arial</vt:lpstr>
      <vt:lpstr>Roboto</vt:lpstr>
      <vt:lpstr>Inter Bold</vt:lpstr>
      <vt:lpstr>Inter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varshita</dc:creator>
  <cp:lastModifiedBy>bha shetty</cp:lastModifiedBy>
  <cp:revision>68</cp:revision>
  <dcterms:created xsi:type="dcterms:W3CDTF">2026-08-06T06:06:58Z</dcterms:created>
  <dcterms:modified xsi:type="dcterms:W3CDTF">2026-10-08T05:17:23Z</dcterms:modified>
</cp:coreProperties>
</file>