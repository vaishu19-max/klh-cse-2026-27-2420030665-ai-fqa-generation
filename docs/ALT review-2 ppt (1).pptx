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8" r:id="rId4"/>
    <p:sldId id="278" r:id="rId5"/>
    <p:sldId id="259" r:id="rId6"/>
    <p:sldId id="269" r:id="rId7"/>
    <p:sldId id="260" r:id="rId8"/>
    <p:sldId id="267" r:id="rId9"/>
    <p:sldId id="261" r:id="rId10"/>
    <p:sldId id="262" r:id="rId11"/>
    <p:sldId id="263" r:id="rId12"/>
    <p:sldId id="264" r:id="rId13"/>
    <p:sldId id="270" r:id="rId14"/>
    <p:sldId id="271" r:id="rId15"/>
    <p:sldId id="272" r:id="rId16"/>
    <p:sldId id="273" r:id="rId17"/>
    <p:sldId id="274" r:id="rId18"/>
    <p:sldId id="276" r:id="rId19"/>
    <p:sldId id="265" r:id="rId20"/>
  </p:sldIdLst>
  <p:sldSz cx="9144000" cy="5143500" type="screen16x9"/>
  <p:notesSz cx="5143500" cy="9144000"/>
  <p:embeddedFontLst>
    <p:embeddedFont>
      <p:font typeface="Instrument Sans Medium" panose="020B0604020202020204" charset="0"/>
      <p:regular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  <p:bold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DD6"/>
    <a:srgbClr val="24242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/>
    <p:restoredTop sz="94595"/>
  </p:normalViewPr>
  <p:slideViewPr>
    <p:cSldViewPr snapToGrid="0" snapToObjects="1">
      <p:cViewPr>
        <p:scale>
          <a:sx n="109" d="100"/>
          <a:sy n="109" d="100"/>
        </p:scale>
        <p:origin x="49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7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43E3-A841-ACF4-C9C9-D2A7FB04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67E63-6BD4-957F-CE02-9E0F5D874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23AB-A78E-76B5-C138-3A93CC33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AE06C-1D0B-61D6-6240-18E4C40D5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78479-72D1-5E2F-1E2D-3854F96A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04800-F01C-AEE3-F14A-8054D9617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BA2A3-FD2E-69C4-9D7C-4ADDDDEA9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FB62A-A87F-CCF2-8E33-908AA4AE6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0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4B4-2040-C962-242D-4853C801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79852-8230-1A38-DED8-5E6E175B3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3A538-0D71-8DC7-C65D-3526E1FD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EC1-83E9-B940-5418-C29188ADE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54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0BCD-25EB-0F8C-E974-A91932D4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9D7D2-F301-C844-F840-978BC71A3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6C099-4829-3FDF-BEEE-4E5379DF0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1C7C6-9BE5-26C1-3FEB-621123426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68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clanthology.org/D18-1427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lanthology.org/D18-1424/" TargetMode="External"/><Relationship Id="rId5" Type="http://schemas.openxmlformats.org/officeDocument/2006/relationships/hyperlink" Target="https://aclanthology.org/D17-1219/" TargetMode="External"/><Relationship Id="rId4" Type="http://schemas.openxmlformats.org/officeDocument/2006/relationships/hyperlink" Target="https://aclanthology.org/P17-1123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jpe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972" y="91252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AI-Based Automatic FAQ Generation from Technical Documents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63973" y="239082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NLP-Based System for Automatically Generating Frequently Asked Questions from Technical Documents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7877" y="3975125"/>
            <a:ext cx="44391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4281636"/>
            <a:ext cx="4439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67B862-E4AE-0BCF-172E-CB08EBC7E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32891"/>
            <a:ext cx="111390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096F8-2930-E861-52B5-3903F604340A}"/>
              </a:ext>
            </a:extLst>
          </p:cNvPr>
          <p:cNvSpPr txBox="1"/>
          <p:nvPr/>
        </p:nvSpPr>
        <p:spPr>
          <a:xfrm>
            <a:off x="155548" y="3250905"/>
            <a:ext cx="3706301" cy="206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00000"/>
                </a:solidFill>
              </a:rPr>
              <a:t>Group 3 :-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Motukuri Vaishnavi - 2420030665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V. Varshita 2420030230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Bhashetty Shaanvi 2420039806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BEBB6-DF5A-DDBC-241F-2D0BB3D98FB4}"/>
              </a:ext>
            </a:extLst>
          </p:cNvPr>
          <p:cNvSpPr txBox="1"/>
          <p:nvPr/>
        </p:nvSpPr>
        <p:spPr>
          <a:xfrm>
            <a:off x="9195275" y="-1025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246CA96-544D-4971-E025-A6A6DC8D8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439FB6-C380-8F21-A56E-09AD83602D75}"/>
              </a:ext>
            </a:extLst>
          </p:cNvPr>
          <p:cNvSpPr txBox="1"/>
          <p:nvPr/>
        </p:nvSpPr>
        <p:spPr>
          <a:xfrm>
            <a:off x="340331" y="1134529"/>
            <a:ext cx="5575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-To develop an automatic FAQ generation system using the T5 Transformer.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process documents in PDF, DOCX, and TXT formats.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–To extract key context and meaning to improve information accessibility.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evaluate system performance using Accuracy.</a:t>
            </a:r>
          </a:p>
          <a:p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build a user-friendly web interface for document upload and FAQ display. </a:t>
            </a:r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reduce manual time and effort in reading documents and creating FAQs.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8658-AACC-C1CA-4305-6F1A033ED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6861180-83CC-F60C-0852-15AB030722E8}"/>
              </a:ext>
            </a:extLst>
          </p:cNvPr>
          <p:cNvSpPr/>
          <p:nvPr/>
        </p:nvSpPr>
        <p:spPr>
          <a:xfrm>
            <a:off x="-1" y="0"/>
            <a:ext cx="916478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1968EB3-6F44-8853-22A5-F218F1516A98}"/>
              </a:ext>
            </a:extLst>
          </p:cNvPr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790E2D-4B18-19D5-4938-C88F30B9AF36}"/>
              </a:ext>
            </a:extLst>
          </p:cNvPr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AE36B6A-8E12-06CF-C53F-A6006605F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1FD02C-9B0D-47BE-E482-39F92DEF7B86}"/>
              </a:ext>
            </a:extLst>
          </p:cNvPr>
          <p:cNvSpPr txBox="1"/>
          <p:nvPr/>
        </p:nvSpPr>
        <p:spPr>
          <a:xfrm>
            <a:off x="340331" y="1134529"/>
            <a:ext cx="5575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Technical documents are lengthy and dense, making it hard to find specific information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Users spend excessive time searching for answers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FAQs are often prepared manually, making the process time-consuming and resource-intensive.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Existing approaches have limited capability to automatically generate contextual FAQs from technical documents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12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FEB16-2979-15DD-B56D-CE3E375A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375DC8-69E6-E8F0-CD78-32C97622E4E2}"/>
              </a:ext>
            </a:extLst>
          </p:cNvPr>
          <p:cNvSpPr/>
          <p:nvPr/>
        </p:nvSpPr>
        <p:spPr>
          <a:xfrm>
            <a:off x="-1" y="0"/>
            <a:ext cx="916478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66174CF-E0E0-96B5-49DC-3014395236C2}"/>
              </a:ext>
            </a:extLst>
          </p:cNvPr>
          <p:cNvSpPr/>
          <p:nvPr/>
        </p:nvSpPr>
        <p:spPr>
          <a:xfrm>
            <a:off x="1055552" y="936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/>
              <a:t>LITERATURE SURVEY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D98ED5-5A39-DDD6-216B-14AFD16B8333}"/>
              </a:ext>
            </a:extLst>
          </p:cNvPr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7382021-8834-780E-00FB-6C6BEA04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F8D5D0-FE5A-D4D8-7887-158C6B412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047240"/>
              </p:ext>
            </p:extLst>
          </p:nvPr>
        </p:nvGraphicFramePr>
        <p:xfrm>
          <a:off x="39753" y="594449"/>
          <a:ext cx="8970605" cy="44571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942">
                  <a:extLst>
                    <a:ext uri="{9D8B030D-6E8A-4147-A177-3AD203B41FA5}">
                      <a16:colId xmlns:a16="http://schemas.microsoft.com/office/drawing/2014/main" val="4133822043"/>
                    </a:ext>
                  </a:extLst>
                </a:gridCol>
                <a:gridCol w="2641259">
                  <a:extLst>
                    <a:ext uri="{9D8B030D-6E8A-4147-A177-3AD203B41FA5}">
                      <a16:colId xmlns:a16="http://schemas.microsoft.com/office/drawing/2014/main" val="1542324479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3895967529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1071455010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3471435510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296124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No.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Research Paper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Model / Technique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Outcome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Limitation Relevant to Project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Dataset(s)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extLst>
                  <a:ext uri="{0D108BD9-81ED-4DB2-BD59-A6C34878D82A}">
                    <a16:rowId xmlns:a16="http://schemas.microsoft.com/office/drawing/2014/main" val="1385577442"/>
                  </a:ext>
                </a:extLst>
              </a:tr>
              <a:tr h="1095707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u="sng">
                          <a:effectLst/>
                          <a:hlinkClick r:id="rId4"/>
                        </a:rPr>
                        <a:t>Learning to Ask: Neural Question Generation for Reading Comprehension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Attention-based Seq2Seq neural question generation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Showed that an end-to-end neural model can generate more natural and fluent questions than earlier rule-based approaches.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/>
                        <a:t>Focuses on reading-comprehension questions, not multi-format technical documents, FAQ organization, or searchable knowledge bases.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SQuAD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extLst>
                  <a:ext uri="{0D108BD9-81ED-4DB2-BD59-A6C34878D82A}">
                    <a16:rowId xmlns:a16="http://schemas.microsoft.com/office/drawing/2014/main" val="683757904"/>
                  </a:ext>
                </a:extLst>
              </a:tr>
              <a:tr h="976329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u="sng">
                          <a:effectLst/>
                          <a:hlinkClick r:id="rId5"/>
                        </a:rPr>
                        <a:t>Identifying Where to Focus in Reading Comprehension for Neural Question Generation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Hierarchical neural sentence-level sequence tagging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Identified question-worthy sentences and improved paragraph-level neural question generation on SQuAD.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Designed for reading-comprehension passages, not technical-document FAQ priorities.</a:t>
                      </a:r>
                    </a:p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SQuAD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extLst>
                  <a:ext uri="{0D108BD9-81ED-4DB2-BD59-A6C34878D82A}">
                    <a16:rowId xmlns:a16="http://schemas.microsoft.com/office/drawing/2014/main" val="2488449325"/>
                  </a:ext>
                </a:extLst>
              </a:tr>
              <a:tr h="944808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u="sng">
                          <a:effectLst/>
                          <a:hlinkClick r:id="rId6"/>
                        </a:rPr>
                        <a:t>Paragraph-level Neural Question Generation with Maxout Pointer and Gated Self-attention Networks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Maxout Pointer + Gated Self-Attention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Improved question generation for longer paragraph inputs and reported a BLEU-4 improvement to 16.3 in the paper's setting.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/>
                        <a:t>Struggles with long documents and is mainly tested on reading-comprehension tasks, not diverse technical documents.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SQuAD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extLst>
                  <a:ext uri="{0D108BD9-81ED-4DB2-BD59-A6C34878D82A}">
                    <a16:rowId xmlns:a16="http://schemas.microsoft.com/office/drawing/2014/main" val="427510294"/>
                  </a:ext>
                </a:extLst>
              </a:tr>
              <a:tr h="1246606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u="sng">
                          <a:effectLst/>
                          <a:hlinkClick r:id="rId7"/>
                        </a:rPr>
                        <a:t>Answer-focused and Position-aware Neural Question Generation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Answer-focused and position-aware Seq2Seq model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Used answer information and relative position to improve question-word selection and reduce copying of irrelevant context words.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/>
                        <a:t>Requires explicit answer information and focuses on benchmarks, unlike automated technical-document processing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3584" marR="23584" marT="23584" marB="2358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SQuAD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386" marR="36386" marT="0" marB="0"/>
                </a:tc>
                <a:extLst>
                  <a:ext uri="{0D108BD9-81ED-4DB2-BD59-A6C34878D82A}">
                    <a16:rowId xmlns:a16="http://schemas.microsoft.com/office/drawing/2014/main" val="146339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43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Identification</a:t>
            </a:r>
            <a:endParaRPr lang="en-US" sz="1600" b="1" dirty="0"/>
          </a:p>
        </p:txBody>
      </p:sp>
      <p:sp>
        <p:nvSpPr>
          <p:cNvPr id="4" name="Text 1"/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0C565B-65D5-67C8-C435-4F15C1AFD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243394-ED10-12A9-73CD-1865EA413F07}"/>
              </a:ext>
            </a:extLst>
          </p:cNvPr>
          <p:cNvSpPr txBox="1"/>
          <p:nvPr/>
        </p:nvSpPr>
        <p:spPr>
          <a:xfrm>
            <a:off x="389755" y="925066"/>
            <a:ext cx="7770571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Existing System </a:t>
            </a:r>
          </a:p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 Keyword-Based Search: Information is retrieved mainly by matching the keywords entered by the user with the words available in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Limited Context Understanding: The system focuses on individual words or phrases and has difficulty understanding the overall meaning and context of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Manual FAQ Creation: Users have to read the document, identify important information, and manually create suitable questions and answers.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Time-Consuming Process: Preparing FAQs from large documents requires more human involvement and takes considerable time and effort.</a:t>
            </a:r>
          </a:p>
          <a:p>
            <a:pPr algn="l">
              <a:spcBef>
                <a:spcPts val="300"/>
              </a:spcBef>
              <a:spcAft>
                <a:spcPts val="375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   Static Information Retrieval: The system provides predefined or search-based results instead of dynamically generating relevant questions and answers.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B5C1-03C5-CAFE-B9FD-A9D15DA3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75E215-D31A-CBB1-7C71-F68C3F4E383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Roboto" panose="02000000000000000000" pitchFamily="2" charset="0"/>
              </a:rPr>
              <a:t>Proposed AI System </a:t>
            </a:r>
          </a:p>
          <a:p>
            <a:endParaRPr lang="en-US" sz="1600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Semantic NLP Understanding: The proposed system uses NLP techniques to understand the context and meaning of the document instead of depending only on keyword matching.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 - Automatic FAQ Generation: The system automatically identifies important content and generates relevant questions and answers from the uploaded document.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T5 Transformer Model: The T5 Transformer is used to process the extracted content and generate meaningful and context-aware question–answer pairs.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Dynamic FAQ Generation: FAQs are generated dynamically according to the content of each document, providing more relevant information to the user.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Reduced Human Effort: The system minimizes manual reading and FAQ preparation, allowing users to obtain useful FAQs quickly after uploading their documents.</a:t>
            </a:r>
            <a:endParaRPr lang="en-US" sz="1400" dirty="0"/>
          </a:p>
          <a:p>
            <a:pPr algn="ctr"/>
            <a:endParaRPr sz="1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853F488-E1B1-8F7A-723B-8F38D8CB1CA9}"/>
              </a:ext>
            </a:extLst>
          </p:cNvPr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C40519B-2F0C-B4CB-3B19-4015C737134D}"/>
              </a:ext>
            </a:extLst>
          </p:cNvPr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4BA234-A0C8-F444-DBEC-86D5624257F3}"/>
              </a:ext>
            </a:extLst>
          </p:cNvPr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731C97-F41D-F665-D504-0F036798D7C6}"/>
              </a:ext>
            </a:extLst>
          </p:cNvPr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9A5E099-407B-56D9-ABB9-917D0752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64C9A7-16B7-18E6-D777-7627AE4749FA}"/>
              </a:ext>
            </a:extLst>
          </p:cNvPr>
          <p:cNvSpPr txBox="1"/>
          <p:nvPr/>
        </p:nvSpPr>
        <p:spPr>
          <a:xfrm>
            <a:off x="2286000" y="-381173"/>
            <a:ext cx="6361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75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26673" y="594006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Solution &amp; System Workflow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8360" y="4132079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en-US" sz="1600" dirty="0">
                <a:solidFill>
                  <a:srgbClr val="000000"/>
                </a:solidFill>
              </a:rPr>
              <a:t>The system extracts and preprocesses document text, divides it into manageable chunks, generates question-answer pairs using the T5 Transformer model, and stores them in a searchable FAQ database.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2E8730-B99A-4655-DC8F-5C09E9E9C16F}"/>
              </a:ext>
            </a:extLst>
          </p:cNvPr>
          <p:cNvSpPr/>
          <p:nvPr/>
        </p:nvSpPr>
        <p:spPr>
          <a:xfrm>
            <a:off x="89023" y="1350410"/>
            <a:ext cx="1273826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Document Upload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028A75-11E2-6E8E-BDBF-4A78B3BB9F75}"/>
              </a:ext>
            </a:extLst>
          </p:cNvPr>
          <p:cNvSpPr/>
          <p:nvPr/>
        </p:nvSpPr>
        <p:spPr>
          <a:xfrm>
            <a:off x="6354524" y="1350410"/>
            <a:ext cx="1426627" cy="860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Searchable FAQ Database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8C5081-DD8E-3355-DB44-1F9BAEFB3580}"/>
              </a:ext>
            </a:extLst>
          </p:cNvPr>
          <p:cNvSpPr/>
          <p:nvPr/>
        </p:nvSpPr>
        <p:spPr>
          <a:xfrm>
            <a:off x="3117891" y="2430346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Chunking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C220F4-66EF-7391-D5CC-6B46A6E84FFB}"/>
              </a:ext>
            </a:extLst>
          </p:cNvPr>
          <p:cNvSpPr/>
          <p:nvPr/>
        </p:nvSpPr>
        <p:spPr>
          <a:xfrm>
            <a:off x="4235530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T5 Transformer 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06BC93-989F-A11F-7840-8007C05D81ED}"/>
              </a:ext>
            </a:extLst>
          </p:cNvPr>
          <p:cNvSpPr/>
          <p:nvPr/>
        </p:nvSpPr>
        <p:spPr>
          <a:xfrm>
            <a:off x="1084117" y="2430346"/>
            <a:ext cx="1370984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Extraction &amp; Cleaning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109617-7990-119D-A6BE-E632F6A73D4B}"/>
              </a:ext>
            </a:extLst>
          </p:cNvPr>
          <p:cNvSpPr/>
          <p:nvPr/>
        </p:nvSpPr>
        <p:spPr>
          <a:xfrm>
            <a:off x="5339914" y="2412482"/>
            <a:ext cx="1426627" cy="896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FAQ Generation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2C0B41-2362-8407-B115-AF2FD4F33F73}"/>
              </a:ext>
            </a:extLst>
          </p:cNvPr>
          <p:cNvSpPr/>
          <p:nvPr/>
        </p:nvSpPr>
        <p:spPr>
          <a:xfrm>
            <a:off x="2116537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Sentence Segmentation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F876BD-BDF8-EE50-D6FC-77B49637EEFF}"/>
              </a:ext>
            </a:extLst>
          </p:cNvPr>
          <p:cNvSpPr/>
          <p:nvPr/>
        </p:nvSpPr>
        <p:spPr>
          <a:xfrm>
            <a:off x="7593871" y="2430346"/>
            <a:ext cx="142662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000000"/>
                </a:solidFill>
              </a:rPr>
              <a:t>Web Application</a:t>
            </a:r>
          </a:p>
          <a:p>
            <a:pPr algn="ctr"/>
            <a:endParaRPr lang="en-US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7674771-EF24-A2ED-4DAE-C4883DA67749}"/>
              </a:ext>
            </a:extLst>
          </p:cNvPr>
          <p:cNvSpPr/>
          <p:nvPr/>
        </p:nvSpPr>
        <p:spPr>
          <a:xfrm>
            <a:off x="1084117" y="221064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E8F5BDE-BD8A-7DCD-831A-BD63BA15ECC8}"/>
              </a:ext>
            </a:extLst>
          </p:cNvPr>
          <p:cNvSpPr/>
          <p:nvPr/>
        </p:nvSpPr>
        <p:spPr>
          <a:xfrm>
            <a:off x="3117891" y="221064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175B98A-C0BB-E01E-BA4A-BA084DE32911}"/>
              </a:ext>
            </a:extLst>
          </p:cNvPr>
          <p:cNvSpPr/>
          <p:nvPr/>
        </p:nvSpPr>
        <p:spPr>
          <a:xfrm>
            <a:off x="5335606" y="2182489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8A0E63F8-0801-C5F5-9BEC-4D512C80166C}"/>
              </a:ext>
            </a:extLst>
          </p:cNvPr>
          <p:cNvSpPr/>
          <p:nvPr/>
        </p:nvSpPr>
        <p:spPr>
          <a:xfrm>
            <a:off x="7454599" y="2184626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6502573-8716-C43C-B175-1207E75B9B65}"/>
              </a:ext>
            </a:extLst>
          </p:cNvPr>
          <p:cNvSpPr/>
          <p:nvPr/>
        </p:nvSpPr>
        <p:spPr>
          <a:xfrm rot="10800000">
            <a:off x="2175764" y="216168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565AECD-85E4-3D7C-0090-0D3C1C0A8C6C}"/>
              </a:ext>
            </a:extLst>
          </p:cNvPr>
          <p:cNvSpPr/>
          <p:nvPr/>
        </p:nvSpPr>
        <p:spPr>
          <a:xfrm rot="10800000">
            <a:off x="4428768" y="216168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86ACE06D-B95B-B25C-8016-8438FC50C700}"/>
              </a:ext>
            </a:extLst>
          </p:cNvPr>
          <p:cNvSpPr/>
          <p:nvPr/>
        </p:nvSpPr>
        <p:spPr>
          <a:xfrm rot="10800000">
            <a:off x="6475104" y="2139941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0B19EC-B794-F992-D86E-6A31F3C9F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5BFE-F92B-413F-EDB0-A66FBF5B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8F2D3-D8BF-7150-9E29-98FA50C43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432447"/>
              </p:ext>
            </p:extLst>
          </p:nvPr>
        </p:nvGraphicFramePr>
        <p:xfrm>
          <a:off x="269663" y="999046"/>
          <a:ext cx="7966710" cy="2358911"/>
        </p:xfrm>
        <a:graphic>
          <a:graphicData uri="http://schemas.openxmlformats.org/drawingml/2006/table">
            <a:tbl>
              <a:tblPr/>
              <a:tblGrid>
                <a:gridCol w="3983355">
                  <a:extLst>
                    <a:ext uri="{9D8B030D-6E8A-4147-A177-3AD203B41FA5}">
                      <a16:colId xmlns:a16="http://schemas.microsoft.com/office/drawing/2014/main" val="1475210364"/>
                    </a:ext>
                  </a:extLst>
                </a:gridCol>
                <a:gridCol w="3983355">
                  <a:extLst>
                    <a:ext uri="{9D8B030D-6E8A-4147-A177-3AD203B41FA5}">
                      <a16:colId xmlns:a16="http://schemas.microsoft.com/office/drawing/2014/main" val="3744116860"/>
                    </a:ext>
                  </a:extLst>
                </a:gridCol>
              </a:tblGrid>
              <a:tr h="294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40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41670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Python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Python programming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19727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Java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Used to generate FAQs from Java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13378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TensorFlow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Machine Learning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70420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User-uploaded Technical Documents (PDF/DOCX/TXT)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Input documents uploaded by users for automatic FAQ generation.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099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116A81-8E2E-4DBF-322B-4D77C406715F}"/>
              </a:ext>
            </a:extLst>
          </p:cNvPr>
          <p:cNvSpPr txBox="1"/>
          <p:nvPr/>
        </p:nvSpPr>
        <p:spPr>
          <a:xfrm>
            <a:off x="215477" y="515465"/>
            <a:ext cx="4578772" cy="36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A252AD5-5E7B-7C23-E994-F527E6BE2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94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7996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Innovation, Creativity &amp; Novelty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6119" y="1024979"/>
            <a:ext cx="2305124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>
              <a:solidFill>
                <a:srgbClr val="C7CDD6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22325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504" y="1255291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325" y="1642393"/>
            <a:ext cx="20527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22325" y="1907084"/>
            <a:ext cx="2052712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FAQ generation using the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T5 Transformer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state-of-the-art text-to-text model trained to produce coherent Q&amp;A pairs from raw text.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913683" y="1024979"/>
            <a:ext cx="2305199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039889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4069" y="1255291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39889" y="1642393"/>
            <a:ext cx="20527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Creativity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3039889" y="1907084"/>
            <a:ext cx="2052786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transforms lengthy, complex technical documents into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concise, readable FAQs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saving hours of manual documentation effort.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6119" y="3100462"/>
            <a:ext cx="4722763" cy="1581150"/>
          </a:xfrm>
          <a:prstGeom prst="roundRect">
            <a:avLst>
              <a:gd name="adj" fmla="val 119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622325" y="3226668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504" y="333077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325" y="3717875"/>
            <a:ext cx="44703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Novelty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622325" y="3982566"/>
            <a:ext cx="447035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000" dirty="0">
                <a:solidFill>
                  <a:schemeClr val="bg1"/>
                </a:solidFill>
              </a:rPr>
              <a:t>Unlike search tools, the system generates new question-answer pairs rather than extracting existing text. It is a generative approach rather than a retriever-based approach. It also supports multiple technical document formats (PDF, DOCX, and TXT).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48BBCF7-1A07-0D05-6ED3-92E47790B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8" y="517662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Feasibility Analysis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85230"/>
            <a:ext cx="2694980" cy="9967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975" y="1308869"/>
            <a:ext cx="149498" cy="149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9140" y="9991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979140" y="1224855"/>
            <a:ext cx="2098030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800" dirty="0">
                <a:solidFill>
                  <a:schemeClr val="bg1"/>
                </a:solidFill>
              </a:rPr>
              <a:t>Developed using Python, NLP libraries, and the T5 Transformer model. The proposed technologies are open-source, reliable, and well documented.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1952030"/>
            <a:ext cx="2694980" cy="86097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975" y="2307729"/>
            <a:ext cx="149498" cy="14949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9140" y="20659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979140" y="2291655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stack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zero licensing costs. Deployable on low-cost cloud or local servers.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83024"/>
            <a:ext cx="2694980" cy="86097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975" y="3238723"/>
            <a:ext cx="149498" cy="14949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79140" y="2996952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979140" y="3222650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interface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upload a document, receive FAQs. No technical expertise required from end users.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814018"/>
            <a:ext cx="2694980" cy="860971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975" y="4169718"/>
            <a:ext cx="149498" cy="14949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79140" y="3927946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979140" y="4153644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design allows parallel development.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Completable within one academic semester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4–5-person team.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9046" y="1313780"/>
            <a:ext cx="5213524" cy="2932584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5E9155ED-1439-5E8A-94B1-3BBE9C92D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03262" y="52323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Plan &amp; Timeline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899294"/>
            <a:ext cx="14288" cy="3397225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66071" y="1006748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57402" y="899294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495614" y="918381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934269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137419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Literature survey, requirement analysis, tool selection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2310" y="1560761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57402" y="1453307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95614" y="147239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439" y="148828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1439" y="1691432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Design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Architecture, UI/UX wireframes, database schema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6071" y="205903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57402" y="195158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95614" y="197067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198655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18970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Processing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 extraction, cleaning, chunking pipeline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310" y="2557314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57402" y="2449860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495614" y="246894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1439" y="248483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1439" y="2687985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T5 Transformer Integration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4166071" y="305559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57402" y="2948136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95614" y="296722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119" y="298311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9–10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18626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Web Application Development</a:t>
            </a:r>
          </a:p>
        </p:txBody>
      </p:sp>
      <p:sp>
        <p:nvSpPr>
          <p:cNvPr id="29" name="Shape 27"/>
          <p:cNvSpPr/>
          <p:nvPr/>
        </p:nvSpPr>
        <p:spPr>
          <a:xfrm>
            <a:off x="4672310" y="355386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457402" y="344641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495614" y="346550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1439" y="348138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11–12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1439" y="368453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Documentation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Unit tests, user testing, final report</a:t>
            </a:r>
            <a:endParaRPr lang="en-US" sz="80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AAA0BB63-69E7-CC57-B494-F852E365B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1051533" y="374513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Output &amp;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56507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Sample User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883" y="1782201"/>
            <a:ext cx="269498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User uploads a PDF or text document.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The system processes the content automatically.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Generated FAQs are displayed in a searchable and exportable format.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FAQs can also be downloaded for future use.</a:t>
            </a:r>
          </a:p>
          <a:p>
            <a:pPr>
              <a:lnSpc>
                <a:spcPct val="114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46" y="885230"/>
            <a:ext cx="5213524" cy="2932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975422"/>
            <a:ext cx="1985367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5759" y="4075063"/>
            <a:ext cx="17860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Software Docs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551509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5115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Educational Materials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06975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06615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Manuals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62440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76208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Knowledge Management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51584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Instrument Sans Medium" panose="020B0604020202020204" charset="0"/>
              </a:rPr>
              <a:t>API Documentation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4FBF613-5BDD-6BAF-AB32-389CF3D52D8A}"/>
              </a:ext>
            </a:extLst>
          </p:cNvPr>
          <p:cNvSpPr/>
          <p:nvPr/>
        </p:nvSpPr>
        <p:spPr>
          <a:xfrm>
            <a:off x="496119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  <a:latin typeface="Instrument Sans Medium" panose="020B0604020202020204" charset="0"/>
              </a:rPr>
              <a:t> Technical support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FEE8070-3187-464F-9859-A6B7EE8C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BACFF-0980-6815-9888-4CCA9B53A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7A931-7A37-76ED-A4C9-CEBEDEFC1585}"/>
              </a:ext>
            </a:extLst>
          </p:cNvPr>
          <p:cNvSpPr txBox="1"/>
          <p:nvPr/>
        </p:nvSpPr>
        <p:spPr>
          <a:xfrm>
            <a:off x="2244437" y="136532"/>
            <a:ext cx="4139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5EEC9-B9DA-4B13-CFE7-199AAFB894C9}"/>
              </a:ext>
            </a:extLst>
          </p:cNvPr>
          <p:cNvSpPr txBox="1"/>
          <p:nvPr/>
        </p:nvSpPr>
        <p:spPr>
          <a:xfrm>
            <a:off x="274320" y="536642"/>
            <a:ext cx="831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proposed system follows a sequential NLP-based methodology for automatically generating FAQs from technical documents.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95ABF-8799-AD85-6326-705044525BBF}"/>
              </a:ext>
            </a:extLst>
          </p:cNvPr>
          <p:cNvSpPr txBox="1"/>
          <p:nvPr/>
        </p:nvSpPr>
        <p:spPr>
          <a:xfrm>
            <a:off x="207818" y="1073284"/>
            <a:ext cx="40566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1. Document Upload</a:t>
            </a:r>
            <a:br>
              <a:rPr lang="en-IN" sz="1500" dirty="0"/>
            </a:br>
            <a:r>
              <a:rPr lang="en-IN" sz="1500" dirty="0"/>
              <a:t>Users upload technical documents in </a:t>
            </a:r>
            <a:r>
              <a:rPr lang="en-IN" sz="1500" b="1" dirty="0"/>
              <a:t>PDF, DOCX, or TXT</a:t>
            </a:r>
            <a:r>
              <a:rPr lang="en-IN" sz="1500" dirty="0"/>
              <a:t> format.</a:t>
            </a:r>
          </a:p>
          <a:p>
            <a:r>
              <a:rPr lang="en-IN" sz="1500" b="1" dirty="0"/>
              <a:t>2. Text Extraction</a:t>
            </a:r>
            <a:br>
              <a:rPr lang="en-IN" sz="1500" dirty="0"/>
            </a:br>
            <a:r>
              <a:rPr lang="en-IN" sz="1500" dirty="0"/>
              <a:t>The system extracts readable text from the uploaded document.</a:t>
            </a:r>
          </a:p>
          <a:p>
            <a:r>
              <a:rPr lang="en-IN" sz="1500" b="1" dirty="0"/>
              <a:t>3. Text Preprocessing</a:t>
            </a:r>
            <a:br>
              <a:rPr lang="en-IN" sz="1500" dirty="0"/>
            </a:br>
            <a:r>
              <a:rPr lang="en-IN" sz="1500" dirty="0"/>
              <a:t>Extracted text is cleaned by removing unnecessary spaces, symbols, and irrelevant content.</a:t>
            </a:r>
          </a:p>
          <a:p>
            <a:r>
              <a:rPr lang="en-IN" sz="1500" b="1" dirty="0"/>
              <a:t>4. Sentence Segmentation</a:t>
            </a:r>
            <a:br>
              <a:rPr lang="en-IN" sz="1500" dirty="0"/>
            </a:br>
            <a:r>
              <a:rPr lang="en-IN" sz="1500" dirty="0"/>
              <a:t>The processed text is divided into meaningful sentences.</a:t>
            </a:r>
          </a:p>
          <a:p>
            <a:r>
              <a:rPr lang="en-IN" sz="1500" b="1" dirty="0"/>
              <a:t>5. Text Chunking</a:t>
            </a:r>
            <a:br>
              <a:rPr lang="en-IN" sz="1500" dirty="0"/>
            </a:br>
            <a:r>
              <a:rPr lang="en-IN" sz="1500" dirty="0"/>
              <a:t>Large documents are divided into smaller manageable text chunks for efficient processing.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A2869-41A6-8274-3F2E-55A7220A9096}"/>
              </a:ext>
            </a:extLst>
          </p:cNvPr>
          <p:cNvSpPr txBox="1"/>
          <p:nvPr/>
        </p:nvSpPr>
        <p:spPr>
          <a:xfrm>
            <a:off x="4520584" y="1076401"/>
            <a:ext cx="41563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6. T5 Transformer Processing</a:t>
            </a:r>
            <a:br>
              <a:rPr lang="en-IN" sz="1500" dirty="0"/>
            </a:br>
            <a:r>
              <a:rPr lang="en-IN" sz="1500" dirty="0"/>
              <a:t>The T5 Transformer </a:t>
            </a:r>
            <a:r>
              <a:rPr lang="en-IN" sz="1500" dirty="0" err="1"/>
              <a:t>analyzes</a:t>
            </a:r>
            <a:r>
              <a:rPr lang="en-IN" sz="1500" dirty="0"/>
              <a:t> the context and generates relevant question–answer pairs.</a:t>
            </a:r>
          </a:p>
          <a:p>
            <a:r>
              <a:rPr lang="en-IN" sz="1500" b="1" dirty="0"/>
              <a:t>7. FAQ Post-Processing</a:t>
            </a:r>
            <a:br>
              <a:rPr lang="en-IN" sz="1500" dirty="0"/>
            </a:br>
            <a:r>
              <a:rPr lang="en-IN" sz="1500" dirty="0"/>
              <a:t>Generated FAQs are organized, cleaned, and prepared for display.</a:t>
            </a:r>
          </a:p>
          <a:p>
            <a:r>
              <a:rPr lang="en-IN" sz="1500" b="1" dirty="0"/>
              <a:t>8. FAQ Storage &amp; Search</a:t>
            </a:r>
            <a:br>
              <a:rPr lang="en-IN" sz="1500" dirty="0"/>
            </a:br>
            <a:r>
              <a:rPr lang="en-IN" sz="1500" dirty="0"/>
              <a:t>The generated FAQs are stored in a searchable knowledge base.</a:t>
            </a:r>
          </a:p>
          <a:p>
            <a:r>
              <a:rPr lang="en-IN" sz="1500" b="1" dirty="0"/>
              <a:t>9. Web Application</a:t>
            </a:r>
            <a:br>
              <a:rPr lang="en-IN" sz="1500" dirty="0"/>
            </a:br>
            <a:r>
              <a:rPr lang="en-IN" sz="1500" dirty="0"/>
              <a:t>Users can search, view, copy, provide feedback, and export the generated FAQs.</a:t>
            </a:r>
          </a:p>
          <a:p>
            <a:r>
              <a:rPr lang="en-IN" sz="1500" b="1" dirty="0"/>
              <a:t>Methodology Flow:</a:t>
            </a:r>
            <a:br>
              <a:rPr lang="en-IN" sz="1500" dirty="0"/>
            </a:br>
            <a:r>
              <a:rPr lang="en-IN" sz="1500" b="1" dirty="0"/>
              <a:t>Upload → Extract → Preprocess → Segment → Chunk → T5 Generation → Post-Process → Store → Search &amp; Display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69975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B0097-8584-829B-63DA-B5C3EA615E5F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892E5-78F4-8123-2E9F-07764BBD60E8}"/>
              </a:ext>
            </a:extLst>
          </p:cNvPr>
          <p:cNvSpPr txBox="1"/>
          <p:nvPr/>
        </p:nvSpPr>
        <p:spPr>
          <a:xfrm>
            <a:off x="117239" y="3825648"/>
            <a:ext cx="2794475" cy="1120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Input: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PDF / DOCX / TXT</a:t>
            </a:r>
            <a:b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Processing: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NLP + T5 Transformer</a:t>
            </a:r>
            <a:b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Output: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Contextual Question–Answer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97A1B-80C4-BE94-2BCF-262B8E7C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379" y="76911"/>
            <a:ext cx="6077620" cy="50662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E0EA6C-52EC-82C0-0D36-8B10879FA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92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63DF9-4919-3DD6-0100-5EB8D1678599}"/>
              </a:ext>
            </a:extLst>
          </p:cNvPr>
          <p:cNvSpPr txBox="1"/>
          <p:nvPr/>
        </p:nvSpPr>
        <p:spPr>
          <a:xfrm>
            <a:off x="2439824" y="145278"/>
            <a:ext cx="426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Modern Tools &amp; Technologies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E4D05-AD08-C2BA-C5E1-80C8148EC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8BDEA4-956E-AFA2-A6F6-558C5AB8AACE}"/>
              </a:ext>
            </a:extLst>
          </p:cNvPr>
          <p:cNvSpPr txBox="1"/>
          <p:nvPr/>
        </p:nvSpPr>
        <p:spPr>
          <a:xfrm>
            <a:off x="273465" y="828942"/>
            <a:ext cx="37345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 / NLP:-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T5 Transformer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Natural Language 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preprocessing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Sentence segmentation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chunking </a:t>
            </a:r>
          </a:p>
          <a:p>
            <a:pPr lvl="0"/>
            <a:endParaRPr lang="en-IN" dirty="0"/>
          </a:p>
          <a:p>
            <a:r>
              <a:rPr lang="en-IN" b="1" dirty="0"/>
              <a:t>Frontend:-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React.js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HTML5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CSS3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JavaScript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07698-0032-72BC-54B5-5990677066D5}"/>
              </a:ext>
            </a:extLst>
          </p:cNvPr>
          <p:cNvSpPr txBox="1"/>
          <p:nvPr/>
        </p:nvSpPr>
        <p:spPr>
          <a:xfrm>
            <a:off x="4794192" y="726392"/>
            <a:ext cx="3537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Backend:-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REST/API-based communication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Document processing modules </a:t>
            </a:r>
          </a:p>
          <a:p>
            <a:pPr lvl="0"/>
            <a:endParaRPr lang="en-IN" dirty="0"/>
          </a:p>
          <a:p>
            <a:r>
              <a:rPr lang="en-IN" b="1" dirty="0"/>
              <a:t>Data / Storage:-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FAQ knowledge base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Technical document datasets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PDF / DOCX / TXT input </a:t>
            </a:r>
          </a:p>
          <a:p>
            <a:pPr lvl="0"/>
            <a:endParaRPr lang="en-IN" dirty="0"/>
          </a:p>
          <a:p>
            <a:r>
              <a:rPr lang="en-IN" b="1" dirty="0"/>
              <a:t>Development Tools:-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 Studio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Git / GitHub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Jupyter / Python environment</a:t>
            </a:r>
          </a:p>
        </p:txBody>
      </p:sp>
    </p:spTree>
    <p:extLst>
      <p:ext uri="{BB962C8B-B14F-4D97-AF65-F5344CB8AC3E}">
        <p14:creationId xmlns:p14="http://schemas.microsoft.com/office/powerpoint/2010/main" val="440614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1FB61-5A26-08E4-BBB5-72C2FE89466D}"/>
              </a:ext>
            </a:extLst>
          </p:cNvPr>
          <p:cNvSpPr txBox="1"/>
          <p:nvPr/>
        </p:nvSpPr>
        <p:spPr>
          <a:xfrm>
            <a:off x="-123891" y="645672"/>
            <a:ext cx="2732976" cy="4293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07BE6-C37D-BB18-D456-93DFCE63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81" y="170916"/>
            <a:ext cx="5950662" cy="4768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0BBF20-C79D-1685-80E0-A05E86C67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78DD5-3506-F0B9-D390-5E6197226456}"/>
              </a:ext>
            </a:extLst>
          </p:cNvPr>
          <p:cNvSpPr txBox="1"/>
          <p:nvPr/>
        </p:nvSpPr>
        <p:spPr>
          <a:xfrm>
            <a:off x="-17057" y="1986337"/>
            <a:ext cx="295684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Implemented Features</a:t>
            </a:r>
            <a:endParaRPr lang="en-IN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PDF, DOCX and TXT document upload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Automatic document processing workflow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FAQ generation interface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FAQ search and category filtering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Copy, feedback and export functionality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Analytics and notification support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85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01A287-621D-D377-D577-71B8A0EE6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E94BE2-D357-BAF9-0F16-BD3993805D8C}"/>
              </a:ext>
            </a:extLst>
          </p:cNvPr>
          <p:cNvSpPr txBox="1"/>
          <p:nvPr/>
        </p:nvSpPr>
        <p:spPr>
          <a:xfrm>
            <a:off x="3720477" y="136532"/>
            <a:ext cx="948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/>
              <a:t>Results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87265-0AE6-D066-980F-5CC0E855C261}"/>
              </a:ext>
            </a:extLst>
          </p:cNvPr>
          <p:cNvSpPr txBox="1"/>
          <p:nvPr/>
        </p:nvSpPr>
        <p:spPr>
          <a:xfrm>
            <a:off x="393107" y="1295675"/>
            <a:ext cx="2905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Technical document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PDF / DOCX / TXT </a:t>
            </a:r>
          </a:p>
          <a:p>
            <a:r>
              <a:rPr lang="en-IN" b="1" dirty="0"/>
              <a:t>Processing:-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extraction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preprocessing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Context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FAQ generation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BF3C5-5189-6800-EDB7-BC487717ACE1}"/>
              </a:ext>
            </a:extLst>
          </p:cNvPr>
          <p:cNvSpPr txBox="1"/>
          <p:nvPr/>
        </p:nvSpPr>
        <p:spPr>
          <a:xfrm>
            <a:off x="4318683" y="1295675"/>
            <a:ext cx="26836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Questions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Answers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Searchable FAQ Library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Copy / Export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User Feedback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4BFD3-D6C1-E8C5-D65E-F804F1ED22E8}"/>
              </a:ext>
            </a:extLst>
          </p:cNvPr>
          <p:cNvSpPr txBox="1"/>
          <p:nvPr/>
        </p:nvSpPr>
        <p:spPr>
          <a:xfrm>
            <a:off x="320468" y="4221623"/>
            <a:ext cx="8503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Result:</a:t>
            </a:r>
            <a:r>
              <a:rPr lang="en-IN" dirty="0"/>
              <a:t> Technical documents are transformed into easily accessible question–answer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30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9DDBF-22AC-31B0-8B0E-315E78A8BECA}"/>
              </a:ext>
            </a:extLst>
          </p:cNvPr>
          <p:cNvSpPr txBox="1"/>
          <p:nvPr/>
        </p:nvSpPr>
        <p:spPr>
          <a:xfrm>
            <a:off x="2251035" y="93755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Evaluation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4AF8F9-FEC8-5B60-65BF-670D6CBAF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D16B5-E368-BCC6-1FF6-0FA1A4018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8021"/>
              </p:ext>
            </p:extLst>
          </p:nvPr>
        </p:nvGraphicFramePr>
        <p:xfrm>
          <a:off x="324166" y="1274487"/>
          <a:ext cx="8495663" cy="305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3080">
                  <a:extLst>
                    <a:ext uri="{9D8B030D-6E8A-4147-A177-3AD203B41FA5}">
                      <a16:colId xmlns:a16="http://schemas.microsoft.com/office/drawing/2014/main" val="3365557279"/>
                    </a:ext>
                  </a:extLst>
                </a:gridCol>
                <a:gridCol w="4652583">
                  <a:extLst>
                    <a:ext uri="{9D8B030D-6E8A-4147-A177-3AD203B41FA5}">
                      <a16:colId xmlns:a16="http://schemas.microsoft.com/office/drawing/2014/main" val="2003872184"/>
                    </a:ext>
                  </a:extLst>
                </a:gridCol>
              </a:tblGrid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Metric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What We Evaluate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3022260734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Relevance of generated FAQs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381588227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Recall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Coverage of important information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910456230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F1-Score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Balance between precision and recall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553525753"/>
                  </a:ext>
                </a:extLst>
              </a:tr>
              <a:tr h="59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BLEU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Similarity of generated questions with reference questions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939318619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ROUGE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Text overlap with reference answers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487153306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Response Time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Time required to generate FAQs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4110595774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Human Evaluation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Correctness, relevance and readability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1115244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1D4205-5C9E-4D23-CF5F-7DB185346C04}"/>
              </a:ext>
            </a:extLst>
          </p:cNvPr>
          <p:cNvSpPr txBox="1"/>
          <p:nvPr/>
        </p:nvSpPr>
        <p:spPr>
          <a:xfrm>
            <a:off x="657451" y="4330625"/>
            <a:ext cx="7426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Evaluation Parameters:</a:t>
            </a:r>
            <a:br>
              <a:rPr lang="en-IN" dirty="0"/>
            </a:br>
            <a:r>
              <a:rPr lang="en-IN" dirty="0"/>
              <a:t>Accuracy + Relevance + Readability + Response Time + User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77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52"/>
            <a:ext cx="3429000" cy="5150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5758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Scope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990898"/>
            <a:ext cx="239167" cy="239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0417" y="1031974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Multilingual Support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290417" y="1279327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FAQ generation to regional languages, and other global languages using multilingual T5 variants.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1833860"/>
            <a:ext cx="239167" cy="2391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90417" y="1874937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Chatbot Integration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290417" y="2122289"/>
            <a:ext cx="43574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generated FAQs into an interactive chatbot for real-time user queries.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2500461"/>
            <a:ext cx="239167" cy="2391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0417" y="2541538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Voice-Based Search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290417" y="2788890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voice input and audio FAQ responses for accessibility and hands-free use.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3343424"/>
            <a:ext cx="239167" cy="2391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0417" y="3384500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&amp; Mobile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290417" y="3631853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cloud infrastructure with a companion mobile app for on-the-go access.</a:t>
            </a:r>
            <a:endParaRPr lang="en-US" sz="9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7749EDD1-AB60-F7AA-5F42-AE5FD014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1562</Words>
  <Application>Microsoft Office PowerPoint</Application>
  <PresentationFormat>On-screen Show (16:9)</PresentationFormat>
  <Paragraphs>251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Times New Roman</vt:lpstr>
      <vt:lpstr>Roboto</vt:lpstr>
      <vt:lpstr>Inter Bold</vt:lpstr>
      <vt:lpstr>Arial</vt:lpstr>
      <vt:lpstr>Inter</vt:lpstr>
      <vt:lpstr>Instrument Sans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 shetty</cp:lastModifiedBy>
  <cp:revision>67</cp:revision>
  <dcterms:created xsi:type="dcterms:W3CDTF">2026-08-06T06:06:58Z</dcterms:created>
  <dcterms:modified xsi:type="dcterms:W3CDTF">2026-09-23T04:59:51Z</dcterms:modified>
</cp:coreProperties>
</file>