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59" r:id="rId5"/>
    <p:sldId id="269" r:id="rId6"/>
    <p:sldId id="260" r:id="rId7"/>
    <p:sldId id="267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DD6"/>
    <a:srgbClr val="242429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58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7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43E3-A841-ACF4-C9C9-D2A7FB04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67E63-6BD4-957F-CE02-9E0F5D874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823AB-A78E-76B5-C138-3A93CC33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AE06C-1D0B-61D6-6240-18E4C40D5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4B4-2040-C962-242D-4853C801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79852-8230-1A38-DED8-5E6E175B3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3A538-0D71-8DC7-C65D-3526E1FD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EC1-83E9-B940-5418-C29188ADE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54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0BCD-25EB-0F8C-E974-A91932D4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9D7D2-F301-C844-F840-978BC71A3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6C099-4829-3FDF-BEEE-4E5379DF0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1C7C6-9BE5-26C1-3FEB-621123426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68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jpe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329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AI-Based Automatic FAQ Generation from Technical Documents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3485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NLP-Based System for Automatically Generating Frequently Asked Questions from Technical Documents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7877" y="3975125"/>
            <a:ext cx="44391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4281636"/>
            <a:ext cx="4439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667B862-E4AE-0BCF-172E-CB08EBC7E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096F8-2930-E861-52B5-3903F604340A}"/>
              </a:ext>
            </a:extLst>
          </p:cNvPr>
          <p:cNvSpPr txBox="1"/>
          <p:nvPr/>
        </p:nvSpPr>
        <p:spPr>
          <a:xfrm>
            <a:off x="235780" y="3676439"/>
            <a:ext cx="3706301" cy="199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</a:rPr>
              <a:t>Group 3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</a:rPr>
              <a:t>V. Varshita 2420030230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</a:rPr>
              <a:t>M. Vaishnavi 2420030665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dirty="0">
                <a:solidFill>
                  <a:srgbClr val="000000"/>
                </a:solidFill>
              </a:rPr>
              <a:t>Bhashetty Shaanvi 2420039806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/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246CA96-544D-4971-E025-A6A6DC8D8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439FB6-C380-8F21-A56E-09AD83602D75}"/>
              </a:ext>
            </a:extLst>
          </p:cNvPr>
          <p:cNvSpPr txBox="1"/>
          <p:nvPr/>
        </p:nvSpPr>
        <p:spPr>
          <a:xfrm>
            <a:off x="340331" y="1134529"/>
            <a:ext cx="5575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-To develop an automatic FAQ generation system using the T5 Transformer.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process documents in PDF, DOCX, and TXT formats.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–To extract key context and meaning to improve information accessibility. </a:t>
            </a: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evaluate system performance using Accuracy.</a:t>
            </a:r>
          </a:p>
          <a:p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To build a user-friendly web interface for document upload and FAQ display. </a:t>
            </a:r>
            <a:endParaRPr lang="en-US" sz="16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endParaRPr lang="en-US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r>
              <a:rPr lang="en-US" sz="16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- To reduce manual time and effort in reading documents and creating FAQs.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8658-AACC-C1CA-4305-6F1A033ED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6861180-83CC-F60C-0852-15AB030722E8}"/>
              </a:ext>
            </a:extLst>
          </p:cNvPr>
          <p:cNvSpPr/>
          <p:nvPr/>
        </p:nvSpPr>
        <p:spPr>
          <a:xfrm>
            <a:off x="-1" y="0"/>
            <a:ext cx="9164781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1968EB3-6F44-8853-22A5-F218F1516A98}"/>
              </a:ext>
            </a:extLst>
          </p:cNvPr>
          <p:cNvSpPr/>
          <p:nvPr/>
        </p:nvSpPr>
        <p:spPr>
          <a:xfrm>
            <a:off x="496119" y="53664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790E2D-4B18-19D5-4938-C88F30B9AF36}"/>
              </a:ext>
            </a:extLst>
          </p:cNvPr>
          <p:cNvSpPr/>
          <p:nvPr/>
        </p:nvSpPr>
        <p:spPr>
          <a:xfrm>
            <a:off x="340332" y="1752154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endParaRPr lang="en-US"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5AE36B6A-8E12-06CF-C53F-A6006605F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1FD02C-9B0D-47BE-E482-39F92DEF7B86}"/>
              </a:ext>
            </a:extLst>
          </p:cNvPr>
          <p:cNvSpPr txBox="1"/>
          <p:nvPr/>
        </p:nvSpPr>
        <p:spPr>
          <a:xfrm>
            <a:off x="340331" y="1134529"/>
            <a:ext cx="5575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Technical documents are lengthy and dense, making it hard to find specific information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Users spend excessive time searching for answers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FAQs are often prepared manually, making the process time-consuming and resource-intensive.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Existing approaches have limited capability to automatically generate contextual FAQs from technical documents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512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Research Gap Identification</a:t>
            </a:r>
            <a:endParaRPr lang="en-US" sz="1600" b="1" dirty="0"/>
          </a:p>
        </p:txBody>
      </p:sp>
      <p:sp>
        <p:nvSpPr>
          <p:cNvPr id="4" name="Text 1"/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90C565B-65D5-67C8-C435-4F15C1AFD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243394-ED10-12A9-73CD-1865EA413F07}"/>
              </a:ext>
            </a:extLst>
          </p:cNvPr>
          <p:cNvSpPr txBox="1"/>
          <p:nvPr/>
        </p:nvSpPr>
        <p:spPr>
          <a:xfrm>
            <a:off x="389755" y="925066"/>
            <a:ext cx="7770571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Existing System </a:t>
            </a:r>
          </a:p>
          <a:p>
            <a:pPr algn="l">
              <a:spcBef>
                <a:spcPts val="300"/>
              </a:spcBef>
              <a:spcAft>
                <a:spcPts val="375"/>
              </a:spcAft>
              <a:buNone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– Keyword-Based Search: Information is retrieved mainly by matching the keywords entered by the user with the words available in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Limited Context Understanding: The system focuses on individual words or phrases and has difficulty understanding the overall meaning and context of the document.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Manual FAQ Creation: Users have to read the document, identify important information, and manually create suitable questions and answers. </a:t>
            </a:r>
          </a:p>
          <a:p>
            <a:pPr marL="285750" indent="-285750" algn="l">
              <a:spcBef>
                <a:spcPts val="300"/>
              </a:spcBef>
              <a:spcAft>
                <a:spcPts val="375"/>
              </a:spcAft>
              <a:buFontTx/>
              <a:buChar char="-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Time-Consuming Process: Preparing FAQs from large documents requires more human involvement and takes considerable time and effort.</a:t>
            </a:r>
          </a:p>
          <a:p>
            <a:pPr algn="l">
              <a:spcBef>
                <a:spcPts val="300"/>
              </a:spcBef>
              <a:spcAft>
                <a:spcPts val="375"/>
              </a:spcAft>
            </a:pPr>
            <a:r>
              <a:rPr lang="en-US" sz="1400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-    Static Information Retrieval: The system provides predefined or search-based results instead of dynamically generating relevant questions and answers.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B5C1-03C5-CAFE-B9FD-A9D15DA34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75E215-D31A-CBB1-7C71-F68C3F4E383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Roboto" panose="02000000000000000000" pitchFamily="2" charset="0"/>
              </a:rPr>
              <a:t>Proposed AI System </a:t>
            </a:r>
          </a:p>
          <a:p>
            <a:endParaRPr lang="en-US" sz="1600" b="1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Semantic NLP Understanding: The proposed system uses NLP techniques to understand the context and meaning of the document instead of depending only on keyword matching.</a:t>
            </a:r>
          </a:p>
          <a:p>
            <a:pPr marL="285750" indent="-285750">
              <a:buFontTx/>
              <a:buChar char="-"/>
            </a:pPr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 - Automatic FAQ Generation: The system automatically identifies important content and generates relevant questions and answers from the uploaded document.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T5 Transformer Model: The T5 Transformer is used to process the extracted content and generate meaningful and context-aware question–answer pairs.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Dynamic FAQ Generation: FAQs are generated dynamically according to the content of each document, providing more relevant information to the user. </a:t>
            </a:r>
          </a:p>
          <a:p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Roboto" panose="02000000000000000000" pitchFamily="2" charset="0"/>
              </a:rPr>
              <a:t>- Reduced Human Effort: The system minimizes manual reading and FAQ preparation, allowing users to obtain useful FAQs quickly after uploading their documents.</a:t>
            </a:r>
            <a:endParaRPr lang="en-US" sz="1400" dirty="0"/>
          </a:p>
          <a:p>
            <a:pPr algn="ctr"/>
            <a:endParaRPr sz="14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853F488-E1B1-8F7A-723B-8F38D8CB1CA9}"/>
              </a:ext>
            </a:extLst>
          </p:cNvPr>
          <p:cNvSpPr/>
          <p:nvPr/>
        </p:nvSpPr>
        <p:spPr>
          <a:xfrm>
            <a:off x="496119" y="555883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C40519B-2F0C-B4CB-3B19-4015C737134D}"/>
              </a:ext>
            </a:extLst>
          </p:cNvPr>
          <p:cNvSpPr/>
          <p:nvPr/>
        </p:nvSpPr>
        <p:spPr>
          <a:xfrm>
            <a:off x="4767511" y="12777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4BA234-A0C8-F444-DBEC-86D5624257F3}"/>
              </a:ext>
            </a:extLst>
          </p:cNvPr>
          <p:cNvSpPr/>
          <p:nvPr/>
        </p:nvSpPr>
        <p:spPr>
          <a:xfrm>
            <a:off x="4767510" y="180965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731C97-F41D-F665-D504-0F036798D7C6}"/>
              </a:ext>
            </a:extLst>
          </p:cNvPr>
          <p:cNvSpPr/>
          <p:nvPr/>
        </p:nvSpPr>
        <p:spPr>
          <a:xfrm>
            <a:off x="4767511" y="3063924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1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9A5E099-407B-56D9-ABB9-917D0752F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64C9A7-16B7-18E6-D777-7627AE4749FA}"/>
              </a:ext>
            </a:extLst>
          </p:cNvPr>
          <p:cNvSpPr txBox="1"/>
          <p:nvPr/>
        </p:nvSpPr>
        <p:spPr>
          <a:xfrm>
            <a:off x="2286000" y="-381173"/>
            <a:ext cx="63618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275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26673" y="594006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Proposed Solution &amp; System Workflow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8360" y="4132079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en-US" sz="1600" dirty="0">
                <a:solidFill>
                  <a:srgbClr val="000000"/>
                </a:solidFill>
              </a:rPr>
              <a:t>The system extracts and preprocesses document text, divides it into manageable chunks, generates question-answer pairs using the T5 Transformer model, and stores them in a searchable FAQ database.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2E8730-B99A-4655-DC8F-5C09E9E9C16F}"/>
              </a:ext>
            </a:extLst>
          </p:cNvPr>
          <p:cNvSpPr/>
          <p:nvPr/>
        </p:nvSpPr>
        <p:spPr>
          <a:xfrm>
            <a:off x="89023" y="1350410"/>
            <a:ext cx="1273826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Document Upload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028A75-11E2-6E8E-BDBF-4A78B3BB9F75}"/>
              </a:ext>
            </a:extLst>
          </p:cNvPr>
          <p:cNvSpPr/>
          <p:nvPr/>
        </p:nvSpPr>
        <p:spPr>
          <a:xfrm>
            <a:off x="6354524" y="1350410"/>
            <a:ext cx="1426627" cy="8602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Searchable FAQ Database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8C5081-DD8E-3355-DB44-1F9BAEFB3580}"/>
              </a:ext>
            </a:extLst>
          </p:cNvPr>
          <p:cNvSpPr/>
          <p:nvPr/>
        </p:nvSpPr>
        <p:spPr>
          <a:xfrm>
            <a:off x="3117891" y="2430346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Chunking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C220F4-66EF-7391-D5CC-6B46A6E84FFB}"/>
              </a:ext>
            </a:extLst>
          </p:cNvPr>
          <p:cNvSpPr/>
          <p:nvPr/>
        </p:nvSpPr>
        <p:spPr>
          <a:xfrm>
            <a:off x="4235530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T5 Transformer Model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A06BC93-989F-A11F-7840-8007C05D81ED}"/>
              </a:ext>
            </a:extLst>
          </p:cNvPr>
          <p:cNvSpPr/>
          <p:nvPr/>
        </p:nvSpPr>
        <p:spPr>
          <a:xfrm>
            <a:off x="1084117" y="2430346"/>
            <a:ext cx="1370984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Text Extraction &amp; Cleaning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8109617-7990-119D-A6BE-E632F6A73D4B}"/>
              </a:ext>
            </a:extLst>
          </p:cNvPr>
          <p:cNvSpPr/>
          <p:nvPr/>
        </p:nvSpPr>
        <p:spPr>
          <a:xfrm>
            <a:off x="5339914" y="2412482"/>
            <a:ext cx="1426627" cy="8968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FAQ Generation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2C0B41-2362-8407-B115-AF2FD4F33F73}"/>
              </a:ext>
            </a:extLst>
          </p:cNvPr>
          <p:cNvSpPr/>
          <p:nvPr/>
        </p:nvSpPr>
        <p:spPr>
          <a:xfrm>
            <a:off x="2116537" y="1350693"/>
            <a:ext cx="159116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Sentence Segmentation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F876BD-BDF8-EE50-D6FC-77B49637EEFF}"/>
              </a:ext>
            </a:extLst>
          </p:cNvPr>
          <p:cNvSpPr/>
          <p:nvPr/>
        </p:nvSpPr>
        <p:spPr>
          <a:xfrm>
            <a:off x="7593871" y="2430346"/>
            <a:ext cx="1426627" cy="9037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rgbClr val="000000"/>
                </a:solidFill>
              </a:rPr>
              <a:t>Web Application</a:t>
            </a:r>
          </a:p>
          <a:p>
            <a:pPr algn="ctr"/>
            <a:endParaRPr lang="en-US" dirty="0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7674771-EF24-A2ED-4DAE-C4883DA67749}"/>
              </a:ext>
            </a:extLst>
          </p:cNvPr>
          <p:cNvSpPr/>
          <p:nvPr/>
        </p:nvSpPr>
        <p:spPr>
          <a:xfrm>
            <a:off x="1084117" y="221064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E8F5BDE-BD8A-7DCD-831A-BD63BA15ECC8}"/>
              </a:ext>
            </a:extLst>
          </p:cNvPr>
          <p:cNvSpPr/>
          <p:nvPr/>
        </p:nvSpPr>
        <p:spPr>
          <a:xfrm>
            <a:off x="3117891" y="221064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C175B98A-C0BB-E01E-BA4A-BA084DE32911}"/>
              </a:ext>
            </a:extLst>
          </p:cNvPr>
          <p:cNvSpPr/>
          <p:nvPr/>
        </p:nvSpPr>
        <p:spPr>
          <a:xfrm>
            <a:off x="5335606" y="2182489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8A0E63F8-0801-C5F5-9BEC-4D512C80166C}"/>
              </a:ext>
            </a:extLst>
          </p:cNvPr>
          <p:cNvSpPr/>
          <p:nvPr/>
        </p:nvSpPr>
        <p:spPr>
          <a:xfrm>
            <a:off x="7454599" y="2184626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96502573-8716-C43C-B175-1207E75B9B65}"/>
              </a:ext>
            </a:extLst>
          </p:cNvPr>
          <p:cNvSpPr/>
          <p:nvPr/>
        </p:nvSpPr>
        <p:spPr>
          <a:xfrm rot="10800000">
            <a:off x="2175764" y="2161682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565AECD-85E4-3D7C-0090-0D3C1C0A8C6C}"/>
              </a:ext>
            </a:extLst>
          </p:cNvPr>
          <p:cNvSpPr/>
          <p:nvPr/>
        </p:nvSpPr>
        <p:spPr>
          <a:xfrm rot="10800000">
            <a:off x="4428768" y="2161683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86ACE06D-B95B-B25C-8016-8438FC50C700}"/>
              </a:ext>
            </a:extLst>
          </p:cNvPr>
          <p:cNvSpPr/>
          <p:nvPr/>
        </p:nvSpPr>
        <p:spPr>
          <a:xfrm rot="10800000">
            <a:off x="6475104" y="2139941"/>
            <a:ext cx="401564" cy="3611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0B19EC-B794-F992-D86E-6A31F3C9F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5BFE-F92B-413F-EDB0-A66FBF5B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8F2D3-D8BF-7150-9E29-98FA50C43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432447"/>
              </p:ext>
            </p:extLst>
          </p:nvPr>
        </p:nvGraphicFramePr>
        <p:xfrm>
          <a:off x="269663" y="999046"/>
          <a:ext cx="7966710" cy="2358911"/>
        </p:xfrm>
        <a:graphic>
          <a:graphicData uri="http://schemas.openxmlformats.org/drawingml/2006/table">
            <a:tbl>
              <a:tblPr/>
              <a:tblGrid>
                <a:gridCol w="3983355">
                  <a:extLst>
                    <a:ext uri="{9D8B030D-6E8A-4147-A177-3AD203B41FA5}">
                      <a16:colId xmlns:a16="http://schemas.microsoft.com/office/drawing/2014/main" val="1475210364"/>
                    </a:ext>
                  </a:extLst>
                </a:gridCol>
                <a:gridCol w="3983355">
                  <a:extLst>
                    <a:ext uri="{9D8B030D-6E8A-4147-A177-3AD203B41FA5}">
                      <a16:colId xmlns:a16="http://schemas.microsoft.com/office/drawing/2014/main" val="3744116860"/>
                    </a:ext>
                  </a:extLst>
                </a:gridCol>
              </a:tblGrid>
              <a:tr h="294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Dataset</a:t>
                      </a:r>
                      <a:endParaRPr lang="en-US" sz="14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</a:rPr>
                        <a:t>Purpose</a:t>
                      </a:r>
                      <a:endParaRPr lang="en-US" sz="140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641670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Python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Python programming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19727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Java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Used to generate FAQs from Java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13378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</a:rPr>
                        <a:t>TensorFlow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Used to generate FAQs from Machine Learning documentation.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704205"/>
                  </a:ext>
                </a:extLst>
              </a:tr>
              <a:tr h="499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User-uploaded Technical Documents (PDF/DOCX/TXT)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Input documents uploaded by users for automatic FAQ generation.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6099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116A81-8E2E-4DBF-322B-4D77C406715F}"/>
              </a:ext>
            </a:extLst>
          </p:cNvPr>
          <p:cNvSpPr txBox="1"/>
          <p:nvPr/>
        </p:nvSpPr>
        <p:spPr>
          <a:xfrm>
            <a:off x="215477" y="515465"/>
            <a:ext cx="4578772" cy="36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</a:t>
            </a: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A252AD5-5E7B-7C23-E994-F527E6BE2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94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7996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Innovation, Creativity &amp; Novelty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6119" y="1024979"/>
            <a:ext cx="2305124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>
              <a:solidFill>
                <a:srgbClr val="C7CDD6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22325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504" y="1255291"/>
            <a:ext cx="170408" cy="170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325" y="1642393"/>
            <a:ext cx="205271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22325" y="1907084"/>
            <a:ext cx="2052712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FAQ generation using the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T5 Transformer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state-of-the-art text-to-text model trained to produce coherent Q&amp;A pairs from raw text.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913683" y="1024979"/>
            <a:ext cx="2305199" cy="1963043"/>
          </a:xfrm>
          <a:prstGeom prst="roundRect">
            <a:avLst>
              <a:gd name="adj" fmla="val 965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3039889" y="1151186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44069" y="1255291"/>
            <a:ext cx="170408" cy="1704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39889" y="1642393"/>
            <a:ext cx="205278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Creativity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3039889" y="1907084"/>
            <a:ext cx="2052786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transforms lengthy, complex technical documents into </a:t>
            </a:r>
            <a:r>
              <a:rPr lang="en-US" sz="9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concise, readable FAQs</a:t>
            </a:r>
            <a:r>
              <a:rPr lang="en-US" sz="9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saving hours of manual documentation effort.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496119" y="3100462"/>
            <a:ext cx="4722763" cy="1581150"/>
          </a:xfrm>
          <a:prstGeom prst="roundRect">
            <a:avLst>
              <a:gd name="adj" fmla="val 1198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0"/>
          <p:cNvSpPr/>
          <p:nvPr/>
        </p:nvSpPr>
        <p:spPr>
          <a:xfrm>
            <a:off x="622325" y="3226668"/>
            <a:ext cx="378768" cy="378768"/>
          </a:xfrm>
          <a:prstGeom prst="ellipse">
            <a:avLst/>
          </a:prstGeom>
          <a:solidFill>
            <a:srgbClr val="FDC4C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504" y="3330773"/>
            <a:ext cx="170408" cy="1704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325" y="3717875"/>
            <a:ext cx="44703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Novelty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622325" y="3982566"/>
            <a:ext cx="447035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</a:pPr>
            <a:r>
              <a:rPr lang="en-US" sz="1000" dirty="0">
                <a:solidFill>
                  <a:schemeClr val="bg1"/>
                </a:solidFill>
              </a:rPr>
              <a:t>Unlike search tools, the system generates new question-answer pairs rather than extracting existing text. It is a generative approach rather than a retriever-based approach. It also supports multiple technical document formats (PDF, DOCX, and TXT).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48BBCF7-1A07-0D05-6ED3-92E47790B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96118" y="517662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Feasibility Analysis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885230"/>
            <a:ext cx="2694980" cy="9967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975" y="1308869"/>
            <a:ext cx="149498" cy="1494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9140" y="9991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979140" y="1224855"/>
            <a:ext cx="2098030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800" dirty="0">
                <a:solidFill>
                  <a:schemeClr val="bg1"/>
                </a:solidFill>
              </a:rPr>
              <a:t>Developed using Python, NLP libraries, and the T5 Transformer model. The proposed technologies are open-source, reliable, and well documented.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1952030"/>
            <a:ext cx="2694980" cy="860971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975" y="2307729"/>
            <a:ext cx="149498" cy="14949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9140" y="2065958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979140" y="2291655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open-source stack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zero licensing costs. Deployable on low-cost cloud or local servers.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83024"/>
            <a:ext cx="2694980" cy="860971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975" y="3238723"/>
            <a:ext cx="149498" cy="14949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79140" y="2996952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979140" y="3222650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 interface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upload a document, receive FAQs. No technical expertise required from end users.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814018"/>
            <a:ext cx="2694980" cy="860971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975" y="4169718"/>
            <a:ext cx="149498" cy="14949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79140" y="3927946"/>
            <a:ext cx="209803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Schedule Feasibility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8"/>
          <p:cNvSpPr/>
          <p:nvPr/>
        </p:nvSpPr>
        <p:spPr>
          <a:xfrm>
            <a:off x="979140" y="4153644"/>
            <a:ext cx="209803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design allows parallel development. </a:t>
            </a:r>
            <a:r>
              <a:rPr lang="en-US" sz="75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Completable within one academic semester</a:t>
            </a:r>
            <a:r>
              <a:rPr lang="en-US" sz="7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4–5-person team.</a:t>
            </a:r>
            <a:endParaRPr lang="en-US" sz="750" dirty="0">
              <a:solidFill>
                <a:schemeClr val="bg1"/>
              </a:solidFill>
            </a:endParaRPr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9046" y="1313780"/>
            <a:ext cx="5213524" cy="2932584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5E9155ED-1439-5E8A-94B1-3BBE9C92D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503262" y="523236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Plan &amp; Timeline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899294"/>
            <a:ext cx="14288" cy="3397225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166071" y="1006748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457402" y="899294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495614" y="918381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934269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137419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Literature survey, requirement analysis, tool selection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2310" y="1560761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57402" y="1453307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95614" y="147239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439" y="148828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1439" y="1691432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Design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Architecture, UI/UX wireframes, database schema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6071" y="205903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457402" y="195158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95614" y="197067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198655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18970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Processing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 extraction, cleaning, chunking pipeline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310" y="2557314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57402" y="2449860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495614" y="246894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1439" y="248483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1439" y="2687985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T5 Transformer Integration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4166071" y="305559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457402" y="2948136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495614" y="296722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119" y="298311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9–10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18626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15000"/>
              </a:lnSpc>
            </a:pPr>
            <a:r>
              <a:rPr lang="en-US" sz="800" dirty="0">
                <a:solidFill>
                  <a:srgbClr val="000000"/>
                </a:solidFill>
              </a:rPr>
              <a:t>Web Application Development</a:t>
            </a:r>
          </a:p>
        </p:txBody>
      </p:sp>
      <p:sp>
        <p:nvSpPr>
          <p:cNvPr id="29" name="Shape 27"/>
          <p:cNvSpPr/>
          <p:nvPr/>
        </p:nvSpPr>
        <p:spPr>
          <a:xfrm>
            <a:off x="4672310" y="355386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5C5C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457402" y="3446413"/>
            <a:ext cx="229195" cy="229195"/>
          </a:xfrm>
          <a:prstGeom prst="roundRect">
            <a:avLst>
              <a:gd name="adj" fmla="val 6669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495614" y="346550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1439" y="3481388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Weeks 11–12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1439" y="368453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Documentation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Unit tests, user testing, final report</a:t>
            </a:r>
            <a:endParaRPr lang="en-US" sz="80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AAA0BB63-69E7-CC57-B494-F852E365B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1051533" y="374513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Output &amp;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56507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Sample User Flow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883" y="1782201"/>
            <a:ext cx="269498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User uploads a PDF or text document.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The system processes the content automatically.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Generated FAQs are displayed in a searchable and exportable format. </a:t>
            </a:r>
          </a:p>
          <a:p>
            <a:r>
              <a:rPr lang="en-US" sz="1200" dirty="0">
                <a:solidFill>
                  <a:srgbClr val="000000"/>
                </a:solidFill>
              </a:rPr>
              <a:t>FAQs can also be downloaded for future use.</a:t>
            </a:r>
          </a:p>
          <a:p>
            <a:pPr>
              <a:lnSpc>
                <a:spcPct val="114000"/>
              </a:lnSpc>
            </a:pP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46" y="885230"/>
            <a:ext cx="5213524" cy="2932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6119" y="3975422"/>
            <a:ext cx="1985367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5759" y="4075063"/>
            <a:ext cx="17860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Software Docs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551509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65115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Educational Materials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06975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06615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Manuals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6662440" y="3975422"/>
            <a:ext cx="1985442" cy="354955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762080" y="4075063"/>
            <a:ext cx="178616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Knowledge Management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51584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  <a:latin typeface="Instrument Sans Medium" panose="020B0604020202020204" charset="0"/>
              </a:rPr>
              <a:t>API Documentation</a:t>
            </a: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4FBF613-5BDD-6BAF-AB32-389CF3D52D8A}"/>
              </a:ext>
            </a:extLst>
          </p:cNvPr>
          <p:cNvSpPr/>
          <p:nvPr/>
        </p:nvSpPr>
        <p:spPr>
          <a:xfrm>
            <a:off x="496119" y="4470670"/>
            <a:ext cx="1985367" cy="353244"/>
          </a:xfrm>
          <a:prstGeom prst="roundRect">
            <a:avLst>
              <a:gd name="adj" fmla="val 4212"/>
            </a:avLst>
          </a:prstGeom>
          <a:solidFill>
            <a:srgbClr val="434348"/>
          </a:solidFill>
          <a:ln/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  <a:latin typeface="Instrument Sans Medium" panose="020B0604020202020204" charset="0"/>
              </a:rPr>
              <a:t> Technical support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FEE8070-3187-464F-9859-A6B7EE8C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52"/>
            <a:ext cx="3429000" cy="5150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65758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Scope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990898"/>
            <a:ext cx="239167" cy="239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90417" y="1031974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Multilingual Support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290417" y="1279327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FAQ generation to regional languages, and other global languages using multilingual T5 variants.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1833860"/>
            <a:ext cx="239167" cy="23916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90417" y="1874937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Chatbot Integration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290417" y="2122289"/>
            <a:ext cx="435746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 generated FAQs into an interactive chatbot for real-time user queries.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2500461"/>
            <a:ext cx="239167" cy="23916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90417" y="2541538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Voice-Based Search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290417" y="2788890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voice input and audio FAQ responses for accessibility and hands-free use.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25119" y="3343424"/>
            <a:ext cx="239167" cy="23916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90417" y="3384500"/>
            <a:ext cx="435746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&amp; Mobile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290417" y="3631853"/>
            <a:ext cx="435746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on cloud infrastructure with a companion mobile app for on-the-go access.</a:t>
            </a:r>
            <a:endParaRPr lang="en-US" sz="9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7749EDD1-AB60-F7AA-5F42-AE5FD014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7947" cy="536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A50BB-A9A5-3554-4B40-B6AA29D84DF3}"/>
              </a:ext>
            </a:extLst>
          </p:cNvPr>
          <p:cNvSpPr txBox="1"/>
          <p:nvPr/>
        </p:nvSpPr>
        <p:spPr>
          <a:xfrm>
            <a:off x="2919306" y="1910081"/>
            <a:ext cx="3162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000000"/>
                </a:solidFill>
              </a:rPr>
              <a:t>THANK YOU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89AE330-FFAB-93AB-BB06-768E80BB0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82940" cy="68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233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910</Words>
  <Application>Microsoft Office PowerPoint</Application>
  <PresentationFormat>On-screen Show (16:9)</PresentationFormat>
  <Paragraphs>136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Instrument Sans Medium</vt:lpstr>
      <vt:lpstr>Inter Bold</vt:lpstr>
      <vt:lpstr>Times New Roman</vt:lpstr>
      <vt:lpstr>Inter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 shetty</cp:lastModifiedBy>
  <cp:revision>62</cp:revision>
  <dcterms:created xsi:type="dcterms:W3CDTF">2026-08-06T06:06:58Z</dcterms:created>
  <dcterms:modified xsi:type="dcterms:W3CDTF">2026-08-19T05:24:54Z</dcterms:modified>
</cp:coreProperties>
</file>